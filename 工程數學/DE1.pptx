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92" r:id="rId4"/>
    <p:sldId id="258" r:id="rId5"/>
    <p:sldId id="259" r:id="rId6"/>
    <p:sldId id="285" r:id="rId7"/>
    <p:sldId id="288" r:id="rId8"/>
    <p:sldId id="260" r:id="rId9"/>
    <p:sldId id="264" r:id="rId10"/>
    <p:sldId id="263" r:id="rId11"/>
    <p:sldId id="265" r:id="rId12"/>
    <p:sldId id="266" r:id="rId13"/>
    <p:sldId id="267" r:id="rId14"/>
    <p:sldId id="291" r:id="rId15"/>
    <p:sldId id="270" r:id="rId16"/>
    <p:sldId id="261" r:id="rId17"/>
    <p:sldId id="268" r:id="rId18"/>
    <p:sldId id="262" r:id="rId19"/>
    <p:sldId id="287" r:id="rId20"/>
    <p:sldId id="286" r:id="rId21"/>
    <p:sldId id="271" r:id="rId22"/>
    <p:sldId id="273" r:id="rId23"/>
    <p:sldId id="274" r:id="rId24"/>
    <p:sldId id="275" r:id="rId25"/>
    <p:sldId id="276" r:id="rId26"/>
    <p:sldId id="277" r:id="rId27"/>
    <p:sldId id="278" r:id="rId28"/>
    <p:sldId id="289" r:id="rId29"/>
    <p:sldId id="283" r:id="rId30"/>
    <p:sldId id="282" r:id="rId31"/>
    <p:sldId id="284" r:id="rId32"/>
    <p:sldId id="290" r:id="rId33"/>
    <p:sldId id="280" r:id="rId34"/>
  </p:sldIdLst>
  <p:sldSz cx="9144000" cy="6858000" type="screen4x3"/>
  <p:notesSz cx="7099300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2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FF99FF"/>
    <a:srgbClr val="333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43" autoAdjust="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5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12" Type="http://schemas.openxmlformats.org/officeDocument/2006/relationships/image" Target="../media/image14.wmf"/><Relationship Id="rId2" Type="http://schemas.openxmlformats.org/officeDocument/2006/relationships/image" Target="../media/image4.wmf"/><Relationship Id="rId16" Type="http://schemas.openxmlformats.org/officeDocument/2006/relationships/image" Target="../media/image18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11" Type="http://schemas.openxmlformats.org/officeDocument/2006/relationships/image" Target="../media/image13.wmf"/><Relationship Id="rId5" Type="http://schemas.openxmlformats.org/officeDocument/2006/relationships/image" Target="../media/image7.wmf"/><Relationship Id="rId15" Type="http://schemas.openxmlformats.org/officeDocument/2006/relationships/image" Target="../media/image17.wmf"/><Relationship Id="rId10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image" Target="../media/image11.wmf"/><Relationship Id="rId14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4" Type="http://schemas.openxmlformats.org/officeDocument/2006/relationships/image" Target="../media/image6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0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0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96.78027" units="1/in"/>
          <inkml:channelProperty channel="Y" name="resolution" value="5041.07666" units="1/in"/>
          <inkml:channelProperty channel="F" name="resolution" value="0" units="1/dev"/>
        </inkml:channelProperties>
      </inkml:inkSource>
      <inkml:timestamp xml:id="ts0" timeString="2012-09-12T04:10:39.446"/>
    </inkml:context>
    <inkml:brush xml:id="br0">
      <inkml:brushProperty name="width" value="0.05292" units="cm"/>
      <inkml:brushProperty name="height" value="0.05292" units="cm"/>
      <inkml:brushProperty name="color" value="#00B050"/>
      <inkml:brushProperty name="fitToCurve" value="1"/>
    </inkml:brush>
  </inkml:definitions>
  <inkml:trace contextRef="#ctx0" brushRef="#br0">281 21 0,'0'0'0,"0"0"0,0 0 0,0 0 0,0 0 0,0 0 0,0 0 0,0 0 0,0 0 0,0 0 0,0 0 0,0 0 0,0 0 0,0 0 0,0 0 0,0 0 0,0 0 0,0 0 0,0 0 0,0 0 0,0 0 0,0 0 0,0 0 0,0 0 0,0 0 0,0 0 0,0 0 0,0 0 0,0 0 0,0 0 0,0 0 0,0 0 0,0 0 0,0 0 0,0 0 0,-147 0 0,147 0 0,0 0 0,0 0 0,0 0 0,0 0 0,-36 0 0,36 0 0,0 0 0,0 0 0,0 0 0,0 0 0,0 0 0,0 0 0,0 0 0,-61-10 0,61 10 0,0 0 0,-37-11 0,37 11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2-09-12T03:04:05.55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96.78027" units="1/in"/>
          <inkml:channelProperty channel="Y" name="resolution" value="5041.07666" units="1/in"/>
          <inkml:channelProperty channel="F" name="resolution" value="0" units="1/dev"/>
        </inkml:channelProperties>
      </inkml:inkSource>
      <inkml:timestamp xml:id="ts0" timeString="2012-09-12T03:25:58.73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971.75757" units="1/in"/>
          <inkml:channelProperty channel="Y" name="resolution" value="5295.24854" units="1/in"/>
          <inkml:channelProperty channel="F" name="resolution" value="0" units="1/dev"/>
        </inkml:channelProperties>
      </inkml:inkSource>
      <inkml:timestamp xml:id="ts0" timeString="2012-09-12T03:35:20.66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-2 1 1,'0'0'0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96.78027" units="1/in"/>
          <inkml:channelProperty channel="Y" name="resolution" value="5041.07666" units="1/in"/>
          <inkml:channelProperty channel="F" name="resolution" value="0" units="1/dev"/>
        </inkml:channelProperties>
      </inkml:inkSource>
      <inkml:timestamp xml:id="ts0" timeString="2012-09-12T03:35:09.15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10110 0 0,'0'0'0,"0"0"0,0 0 0,0 0 0,0 0 0,0 0 0</inkml:trace>
  <inkml:trace contextRef="#ctx0" brushRef="#br0" timeOffset="65161">0 2504 0,'0'0'0,"0"0"0,0 0 0,0 0 0,0 0 0,0 0 0,0 0 0,0 0 0,0 0 0,0 0 0,0 0 0,0 0 0,0 0 0,0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96.78027" units="1/in"/>
          <inkml:channelProperty channel="Y" name="resolution" value="5041.07666" units="1/in"/>
          <inkml:channelProperty channel="F" name="resolution" value="0" units="1/dev"/>
        </inkml:channelProperties>
      </inkml:inkSource>
      <inkml:timestamp xml:id="ts0" timeString="2012-09-12T03:42:42.94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96.78027" units="1/in"/>
          <inkml:channelProperty channel="Y" name="resolution" value="5041.07666" units="1/in"/>
          <inkml:channelProperty channel="F" name="resolution" value="0" units="1/dev"/>
        </inkml:channelProperties>
      </inkml:inkSource>
      <inkml:timestamp xml:id="ts0" timeString="2012-09-12T03:51:25.35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  <inkml:context xml:id="ctx1">
      <inkml:inkSource xml:id="inkSrc1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971.75757" units="1/in"/>
          <inkml:channelProperty channel="Y" name="resolution" value="5295.24854" units="1/in"/>
          <inkml:channelProperty channel="F" name="resolution" value="0" units="1/dev"/>
        </inkml:channelProperties>
      </inkml:inkSource>
      <inkml:timestamp xml:id="ts1" timeString="2012-09-12T03:52:06.631"/>
    </inkml:context>
  </inkml:definitions>
  <inkml:trace contextRef="#ctx0" brushRef="#br0">0 612 0,'0'0'0,"0"0"0,0 0 0</inkml:trace>
  <inkml:trace contextRef="#ctx1" brushRef="#br0">7361 21 6966,'-2'-11'5160,"2"11"-258,5-7-387,-5 7-2580,13-4-1806,-2 6-3354,-11-2-1161,11 7-387,-11-7-516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96.78027" units="1/in"/>
          <inkml:channelProperty channel="Y" name="resolution" value="5041.07666" units="1/in"/>
          <inkml:channelProperty channel="F" name="resolution" value="0" units="1/dev"/>
        </inkml:channelProperties>
      </inkml:inkSource>
      <inkml:timestamp xml:id="ts0" timeString="2012-09-12T03:52:01.74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971.75757" units="1/in"/>
          <inkml:channelProperty channel="Y" name="resolution" value="5295.24854" units="1/in"/>
          <inkml:channelProperty channel="F" name="resolution" value="0" units="1/dev"/>
        </inkml:channelProperties>
      </inkml:inkSource>
      <inkml:timestamp xml:id="ts0" timeString="2012-09-12T04:05:17.615"/>
    </inkml:context>
    <inkml:brush xml:id="br0">
      <inkml:brushProperty name="width" value="0.05292" units="cm"/>
      <inkml:brushProperty name="height" value="0.05292" units="cm"/>
      <inkml:brushProperty name="color" value="#00B050"/>
      <inkml:brushProperty name="fitToCurve" value="1"/>
    </inkml:brush>
  </inkml:definitions>
  <inkml:trace contextRef="#ctx0" brushRef="#br0">25 3 645,'0'0'903,"0"0"0,0 0-258,0 0 129,0 0-258,0 0 0,-11-8-129,11 8 0,0 0-258,0 0 129,0 0 0,0 0 129,0 0-129,0 0 129,0 0-129,0 0 258,0 0-129,0 0 387,0 0 258,0 0 0,0 0 0,0 0 129,0 0-129,0 0 0,0 0-387,0 0 0,0 0-645,0 0-387,-14 4-1290,14-4-1419,0 0-1032,0 0-387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7137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59" tIns="47380" rIns="94759" bIns="4738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0506" y="0"/>
            <a:ext cx="3077137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59" tIns="47380" rIns="94759" bIns="4738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599" y="4862015"/>
            <a:ext cx="5680103" cy="4605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59" tIns="47380" rIns="94759" bIns="473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755"/>
            <a:ext cx="3077137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59" tIns="47380" rIns="94759" bIns="4738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506" y="9720755"/>
            <a:ext cx="3077137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59" tIns="47380" rIns="94759" bIns="4738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8AE4F84-7311-43B2-A457-A331E2EB66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  <a:ln/>
        </p:spPr>
      </p:sp>
      <p:sp>
        <p:nvSpPr>
          <p:cNvPr id="512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1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69919" indent="-296123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84491" indent="-236898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58287" indent="-236898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132084" indent="-236898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605880" indent="-236898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3079676" indent="-236898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553473" indent="-236898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4027269" indent="-236898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fld id="{DD187D76-0A9B-44EA-A78F-07AB4707B262}" type="slidenum">
              <a:rPr lang="en-US" altLang="zh-TW" sz="1200">
                <a:latin typeface="Arial" panose="020B0604020202020204" pitchFamily="34" charset="0"/>
                <a:ea typeface="新細明體" panose="02020500000000000000" pitchFamily="18" charset="-120"/>
              </a:rPr>
              <a:pPr/>
              <a:t>2</a:t>
            </a:fld>
            <a:endParaRPr lang="en-US" altLang="zh-TW" sz="12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  <a:ln/>
        </p:spPr>
      </p:sp>
      <p:sp>
        <p:nvSpPr>
          <p:cNvPr id="512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1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69919" indent="-296123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84491" indent="-236898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58287" indent="-236898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132084" indent="-236898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605880" indent="-236898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3079676" indent="-236898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553473" indent="-236898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4027269" indent="-236898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fld id="{DD187D76-0A9B-44EA-A78F-07AB4707B262}" type="slidenum">
              <a:rPr lang="en-US" altLang="zh-TW" sz="1200">
                <a:latin typeface="Arial" panose="020B0604020202020204" pitchFamily="34" charset="0"/>
                <a:ea typeface="新細明體" panose="02020500000000000000" pitchFamily="18" charset="-120"/>
              </a:rPr>
              <a:pPr/>
              <a:t>3</a:t>
            </a:fld>
            <a:endParaRPr lang="en-US" altLang="zh-TW" sz="12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4386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E4F84-7311-43B2-A457-A331E2EB6604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79961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9919" indent="-29612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4491" indent="-23689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8287" indent="-23689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84" indent="-23689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605880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79676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53473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4027269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E2A90F17-A82D-4F1F-8F54-6C74A935F2CD}" type="slidenum">
              <a:rPr lang="en-US" altLang="zh-TW" smtClean="0"/>
              <a:pPr>
                <a:spcBef>
                  <a:spcPct val="0"/>
                </a:spcBef>
              </a:pPr>
              <a:t>22</a:t>
            </a:fld>
            <a:endParaRPr lang="en-US" altLang="zh-TW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9919" indent="-29612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4491" indent="-23689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8287" indent="-23689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84" indent="-23689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605880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79676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53473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4027269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450DFC0-2870-4320-901A-38B9094C86C0}" type="slidenum">
              <a:rPr lang="en-US" altLang="zh-TW" smtClean="0"/>
              <a:pPr>
                <a:spcBef>
                  <a:spcPct val="0"/>
                </a:spcBef>
              </a:pPr>
              <a:t>24</a:t>
            </a:fld>
            <a:endParaRPr lang="en-US" altLang="zh-TW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9919" indent="-29612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4491" indent="-23689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8287" indent="-23689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84" indent="-23689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605880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79676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53473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4027269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8583E15-4F8B-4B8B-9D10-2ABEED6D33CC}" type="slidenum">
              <a:rPr lang="en-US" altLang="zh-TW" smtClean="0"/>
              <a:pPr>
                <a:spcBef>
                  <a:spcPct val="0"/>
                </a:spcBef>
              </a:pPr>
              <a:t>25</a:t>
            </a:fld>
            <a:endParaRPr lang="en-US" altLang="zh-TW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69919" indent="-29612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84491" indent="-23689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58287" indent="-23689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132084" indent="-23689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605880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3079676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553473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4027269" indent="-23689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0636195-EE7F-49D0-99DA-044AE56FD687}" type="slidenum">
              <a:rPr lang="en-US" altLang="zh-TW" smtClean="0"/>
              <a:pPr>
                <a:spcBef>
                  <a:spcPct val="0"/>
                </a:spcBef>
              </a:pPr>
              <a:t>33</a:t>
            </a:fld>
            <a:endParaRPr lang="en-US" altLang="zh-TW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96F52A-2E88-4BA8-828E-34BFC3CEBEA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7391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D3A38-FAC6-478C-9AC3-41662EB3A50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54364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14B12-3F0B-4CF0-BA20-40BCF31A22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160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1E6824-7D60-43DD-8400-1ACDEF50AEB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80226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873455-D97E-4FFC-9E89-F7F02C9BC21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4784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C8EF3-7C27-4893-8C2D-DAF0B185EBB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2712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E7754-8556-44ED-80DC-8F79377F7B5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72248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F2B1A-C7D1-4895-BB68-DED4F300DB6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446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B1537B-C845-4C47-95C1-1838CEFEE21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2788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D83DF-DD69-4E27-8E25-C17B7FA2F43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2785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DAF46-4C24-43EB-BB3C-876EAC02D73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7686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EFCE7-7742-4B88-B3A0-9BD0DAA538B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46769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56550" y="188913"/>
            <a:ext cx="8747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000">
                <a:solidFill>
                  <a:srgbClr val="3333FF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54441D04-B667-41C2-A7F3-AC8859E317E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cc.ee.ntu.edu.tw/~tomme/DE/DE.html" TargetMode="External"/><Relationship Id="rId7" Type="http://schemas.openxmlformats.org/officeDocument/2006/relationships/hyperlink" Target="http://disp.ee.ntu.edu.tw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shengyang@ntu.edu.tw" TargetMode="External"/><Relationship Id="rId5" Type="http://schemas.openxmlformats.org/officeDocument/2006/relationships/hyperlink" Target="mailto:jjding@ntu.edu.tw" TargetMode="External"/><Relationship Id="rId4" Type="http://schemas.openxmlformats.org/officeDocument/2006/relationships/hyperlink" Target="http://djj.ee.ntu.edu.tw/DE.ht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.bin"/><Relationship Id="rId18" Type="http://schemas.openxmlformats.org/officeDocument/2006/relationships/image" Target="../media/image10.wmf"/><Relationship Id="rId26" Type="http://schemas.openxmlformats.org/officeDocument/2006/relationships/image" Target="../media/image14.wmf"/><Relationship Id="rId3" Type="http://schemas.openxmlformats.org/officeDocument/2006/relationships/oleObject" Target="../embeddings/oleObject3.bin"/><Relationship Id="rId21" Type="http://schemas.openxmlformats.org/officeDocument/2006/relationships/oleObject" Target="../embeddings/oleObject12.bin"/><Relationship Id="rId34" Type="http://schemas.openxmlformats.org/officeDocument/2006/relationships/image" Target="../media/image18.wmf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0.bin"/><Relationship Id="rId25" Type="http://schemas.openxmlformats.org/officeDocument/2006/relationships/oleObject" Target="../embeddings/oleObject14.bin"/><Relationship Id="rId3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.wmf"/><Relationship Id="rId20" Type="http://schemas.openxmlformats.org/officeDocument/2006/relationships/image" Target="../media/image11.wmf"/><Relationship Id="rId29" Type="http://schemas.openxmlformats.org/officeDocument/2006/relationships/oleObject" Target="../embeddings/oleObject16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7.bin"/><Relationship Id="rId24" Type="http://schemas.openxmlformats.org/officeDocument/2006/relationships/image" Target="../media/image13.wmf"/><Relationship Id="rId32" Type="http://schemas.openxmlformats.org/officeDocument/2006/relationships/image" Target="../media/image17.wmf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13.bin"/><Relationship Id="rId28" Type="http://schemas.openxmlformats.org/officeDocument/2006/relationships/image" Target="../media/image15.wmf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11.bin"/><Relationship Id="rId31" Type="http://schemas.openxmlformats.org/officeDocument/2006/relationships/oleObject" Target="../embeddings/oleObject17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8.wmf"/><Relationship Id="rId22" Type="http://schemas.openxmlformats.org/officeDocument/2006/relationships/image" Target="../media/image12.wmf"/><Relationship Id="rId27" Type="http://schemas.openxmlformats.org/officeDocument/2006/relationships/oleObject" Target="../embeddings/oleObject15.bin"/><Relationship Id="rId30" Type="http://schemas.openxmlformats.org/officeDocument/2006/relationships/image" Target="../media/image16.wmf"/><Relationship Id="rId8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6.wmf"/><Relationship Id="rId11" Type="http://schemas.openxmlformats.org/officeDocument/2006/relationships/customXml" Target="../ink/ink2.xml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3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6.wmf"/><Relationship Id="rId11" Type="http://schemas.openxmlformats.org/officeDocument/2006/relationships/customXml" Target="../ink/ink3.xml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42.bin"/><Relationship Id="rId7" Type="http://schemas.openxmlformats.org/officeDocument/2006/relationships/customXml" Target="../ink/ink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3.emf"/><Relationship Id="rId5" Type="http://schemas.openxmlformats.org/officeDocument/2006/relationships/customXml" Target="../ink/ink4.xml"/><Relationship Id="rId4" Type="http://schemas.openxmlformats.org/officeDocument/2006/relationships/image" Target="../media/image4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8.emf"/><Relationship Id="rId5" Type="http://schemas.openxmlformats.org/officeDocument/2006/relationships/customXml" Target="../ink/ink6.xml"/><Relationship Id="rId4" Type="http://schemas.openxmlformats.org/officeDocument/2006/relationships/image" Target="../media/image4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54.bin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54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55.bin"/><Relationship Id="rId7" Type="http://schemas.openxmlformats.org/officeDocument/2006/relationships/customXml" Target="../ink/ink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8.emf"/><Relationship Id="rId5" Type="http://schemas.openxmlformats.org/officeDocument/2006/relationships/customXml" Target="../ink/ink7.xml"/><Relationship Id="rId4" Type="http://schemas.openxmlformats.org/officeDocument/2006/relationships/image" Target="../media/image5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11" Type="http://schemas.openxmlformats.org/officeDocument/2006/relationships/image" Target="../media/image63.emf"/><Relationship Id="rId5" Type="http://schemas.openxmlformats.org/officeDocument/2006/relationships/image" Target="../media/image57.png"/><Relationship Id="rId4" Type="http://schemas.openxmlformats.org/officeDocument/2006/relationships/hyperlink" Target="http://creativecommons.org/licenses/by-nc-sa/3.0/tw/deed.zh_TW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hyperlink" Target="http://creativecommons.org/licenses/by-nc-sa/3.0/tw/deed.zh_TW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image" Target="../media/image66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61.bin"/><Relationship Id="rId12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3.wmf"/><Relationship Id="rId11" Type="http://schemas.openxmlformats.org/officeDocument/2006/relationships/image" Target="../media/image65.wmf"/><Relationship Id="rId5" Type="http://schemas.openxmlformats.org/officeDocument/2006/relationships/oleObject" Target="../embeddings/oleObject60.bin"/><Relationship Id="rId10" Type="http://schemas.openxmlformats.org/officeDocument/2006/relationships/oleObject" Target="../embeddings/oleObject62.bin"/><Relationship Id="rId4" Type="http://schemas.openxmlformats.org/officeDocument/2006/relationships/image" Target="../media/image60.wmf"/><Relationship Id="rId9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0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3.0/tw/deed.zh_TW" TargetMode="External"/><Relationship Id="rId2" Type="http://schemas.openxmlformats.org/officeDocument/2006/relationships/image" Target="../media/image68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76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74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4122AD-F012-4CEA-A3E0-FDAAF86EE701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836613"/>
            <a:ext cx="7772400" cy="1079500"/>
          </a:xfrm>
        </p:spPr>
        <p:txBody>
          <a:bodyPr/>
          <a:lstStyle/>
          <a:p>
            <a:pPr eaLnBrk="1" hangingPunct="1"/>
            <a:r>
              <a:rPr lang="zh-TW" altLang="en-US">
                <a:solidFill>
                  <a:srgbClr val="3333FF"/>
                </a:solidFill>
                <a:ea typeface="標楷體" panose="03000509000000000000" pitchFamily="65" charset="-120"/>
              </a:rPr>
              <a:t>工程數學</a:t>
            </a:r>
            <a:r>
              <a:rPr lang="en-US" altLang="zh-TW">
                <a:solidFill>
                  <a:srgbClr val="3333FF"/>
                </a:solidFill>
                <a:ea typeface="標楷體" panose="03000509000000000000" pitchFamily="65" charset="-120"/>
              </a:rPr>
              <a:t>--</a:t>
            </a:r>
            <a:r>
              <a:rPr lang="zh-TW" altLang="en-US">
                <a:solidFill>
                  <a:srgbClr val="3333FF"/>
                </a:solidFill>
                <a:ea typeface="標楷體" panose="03000509000000000000" pitchFamily="65" charset="-120"/>
              </a:rPr>
              <a:t>微分方程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3068638"/>
            <a:ext cx="6400800" cy="647700"/>
          </a:xfrm>
        </p:spPr>
        <p:txBody>
          <a:bodyPr/>
          <a:lstStyle/>
          <a:p>
            <a:pPr eaLnBrk="1" hangingPunct="1"/>
            <a:r>
              <a:rPr lang="zh-TW" altLang="en-US">
                <a:ea typeface="標楷體" panose="03000509000000000000" pitchFamily="65" charset="-120"/>
              </a:rPr>
              <a:t>授課者：丁建均</a:t>
            </a:r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684213" y="1844675"/>
            <a:ext cx="77724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440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Differential Equations (DE)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1403350" y="3933825"/>
            <a:ext cx="6335713" cy="161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教學網頁：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http://djj.ee.ntu.edu.tw/DE.htm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請上課前來這個網站將講義印好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</a:rPr>
              <a:t>歡迎大家來修課！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26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08488" y="231775"/>
              <a:ext cx="101600" cy="7938"/>
            </p14:xfrm>
          </p:contentPart>
        </mc:Choice>
        <mc:Fallback xmlns="">
          <p:pic>
            <p:nvPicPr>
              <p:cNvPr id="1026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05966" y="229249"/>
                <a:ext cx="106644" cy="1298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62D222-386C-4BB7-944B-E28F5F19A204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755650" y="549275"/>
            <a:ext cx="7416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課程資訊</a:t>
            </a:r>
            <a:endParaRPr lang="en-US" altLang="zh-TW" sz="28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611561" y="1556792"/>
            <a:ext cx="7992888" cy="3497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上課時間： 星期三 第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3, 4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節 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(AM 10:20~12:10)                     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上課地點： 明達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205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課程將錄影，放在 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NTUCool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)                    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zh-TW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課本： 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"Differential Equations-with Boundary-Value Problem," </a:t>
            </a:r>
            <a:b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              Dennis G. </a:t>
            </a:r>
            <a:r>
              <a:rPr lang="en-US" altLang="zh-TW" sz="2200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Zill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and Michael R. Cullen, 9</a:t>
            </a:r>
            <a:r>
              <a:rPr lang="en-US" altLang="zh-TW" sz="22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th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edition, </a:t>
            </a:r>
            <a:b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             Cengage Learning, 2017. </a:t>
            </a:r>
            <a:b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endParaRPr lang="en-US" altLang="zh-TW" sz="22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評分方式：四次作業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15%,  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期中考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42.5%, 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期末考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42.5%    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62D222-386C-4BB7-944B-E28F5F19A204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755576" y="506788"/>
            <a:ext cx="7416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授課者：丁建均</a:t>
            </a:r>
          </a:p>
        </p:txBody>
      </p:sp>
      <p:sp>
        <p:nvSpPr>
          <p:cNvPr id="2" name="矩形 1"/>
          <p:cNvSpPr/>
          <p:nvPr/>
        </p:nvSpPr>
        <p:spPr>
          <a:xfrm>
            <a:off x="539256" y="4291215"/>
            <a:ext cx="734506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共同教學網頁： </a:t>
            </a:r>
            <a:r>
              <a:rPr lang="en-US" altLang="zh-TW" dirty="0">
                <a:hlinkClick r:id="rId3"/>
              </a:rPr>
              <a:t>http://cc.ee.ntu.edu.tw/~tomme/DE/DE.html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560022" y="2838780"/>
            <a:ext cx="71825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zh-TW" altLang="en-US" dirty="0"/>
              <a:t>教學網頁：</a:t>
            </a:r>
            <a:r>
              <a:rPr lang="en-US" altLang="zh-TW" dirty="0">
                <a:hlinkClick r:id="rId4"/>
              </a:rPr>
              <a:t>http://djj.ee.ntu.edu.tw/DE.htm</a:t>
            </a:r>
            <a:r>
              <a:rPr lang="en-US" altLang="zh-TW" dirty="0"/>
              <a:t>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4CF543-96D4-460A-8A5F-3CD314641FE4}"/>
              </a:ext>
            </a:extLst>
          </p:cNvPr>
          <p:cNvSpPr/>
          <p:nvPr/>
        </p:nvSpPr>
        <p:spPr>
          <a:xfrm>
            <a:off x="539256" y="2254972"/>
            <a:ext cx="462338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15000"/>
              </a:spcBef>
              <a:buFontTx/>
              <a:buNone/>
            </a:pPr>
            <a:r>
              <a:rPr lang="zh-TW" altLang="en-US" dirty="0"/>
              <a:t>老師 </a:t>
            </a:r>
            <a:r>
              <a:rPr lang="en-US" altLang="zh-TW" dirty="0"/>
              <a:t>E-mail:        </a:t>
            </a:r>
            <a:r>
              <a:rPr lang="en-US" altLang="zh-TW" dirty="0">
                <a:hlinkClick r:id="rId5"/>
              </a:rPr>
              <a:t>jjding@ntu.edu.tw</a:t>
            </a:r>
            <a:r>
              <a:rPr lang="en-US" altLang="zh-TW" dirty="0"/>
              <a:t>   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21854C-D7BD-4B5B-A7D8-516BA8B3F1FA}"/>
              </a:ext>
            </a:extLst>
          </p:cNvPr>
          <p:cNvSpPr/>
          <p:nvPr/>
        </p:nvSpPr>
        <p:spPr>
          <a:xfrm>
            <a:off x="506536" y="4929708"/>
            <a:ext cx="223009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15000"/>
              </a:spcBef>
              <a:buFontTx/>
              <a:buNone/>
            </a:pPr>
            <a:r>
              <a:rPr lang="zh-TW" altLang="en-US" dirty="0"/>
              <a:t>大助教： 洪聲仰</a:t>
            </a:r>
            <a:endParaRPr lang="en-US" altLang="zh-TW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E436EA-6E21-4B48-8D1C-404B5222180C}"/>
              </a:ext>
            </a:extLst>
          </p:cNvPr>
          <p:cNvSpPr/>
          <p:nvPr/>
        </p:nvSpPr>
        <p:spPr>
          <a:xfrm>
            <a:off x="506535" y="5577290"/>
            <a:ext cx="66505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15000"/>
              </a:spcBef>
              <a:buFontTx/>
              <a:buNone/>
            </a:pPr>
            <a:r>
              <a:rPr lang="zh-TW" altLang="en-US" dirty="0"/>
              <a:t>大助教聯絡方式： </a:t>
            </a:r>
            <a:r>
              <a:rPr lang="en-US" altLang="zh-TW" dirty="0">
                <a:hlinkClick r:id="rId6"/>
              </a:rPr>
              <a:t>shengyang@ntu.edu.tw</a:t>
            </a:r>
            <a:r>
              <a:rPr lang="en-US" altLang="zh-TW" dirty="0"/>
              <a:t>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DDE23F-F6DA-4C5C-97B8-3E9B06102215}"/>
              </a:ext>
            </a:extLst>
          </p:cNvPr>
          <p:cNvSpPr/>
          <p:nvPr/>
        </p:nvSpPr>
        <p:spPr>
          <a:xfrm>
            <a:off x="560022" y="3600985"/>
            <a:ext cx="46121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個人網頁：</a:t>
            </a:r>
            <a:r>
              <a:rPr lang="en-US" altLang="zh-TW" dirty="0">
                <a:hlinkClick r:id="rId7"/>
              </a:rPr>
              <a:t>http://disp.ee.ntu.edu.tw/</a:t>
            </a:r>
            <a:r>
              <a:rPr lang="en-US" altLang="zh-TW" dirty="0"/>
              <a:t>   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E12357-6FCE-4B2D-8CFA-E38DAB6BF1FB}"/>
              </a:ext>
            </a:extLst>
          </p:cNvPr>
          <p:cNvSpPr/>
          <p:nvPr/>
        </p:nvSpPr>
        <p:spPr>
          <a:xfrm>
            <a:off x="539256" y="1246703"/>
            <a:ext cx="68616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zh-TW" dirty="0"/>
              <a:t>Office</a:t>
            </a:r>
            <a:r>
              <a:rPr lang="zh-TW" altLang="en-US" dirty="0"/>
              <a:t>： 明達館</a:t>
            </a:r>
            <a:r>
              <a:rPr lang="en-US" altLang="zh-TW" dirty="0"/>
              <a:t>723</a:t>
            </a:r>
            <a:r>
              <a:rPr lang="zh-TW" altLang="en-US" dirty="0"/>
              <a:t>室</a:t>
            </a:r>
            <a:r>
              <a:rPr lang="en-US" altLang="zh-TW" dirty="0"/>
              <a:t>,    TEL</a:t>
            </a:r>
            <a:r>
              <a:rPr lang="zh-TW" altLang="en-US" dirty="0"/>
              <a:t>： </a:t>
            </a:r>
            <a:r>
              <a:rPr lang="en-US" altLang="zh-TW" dirty="0"/>
              <a:t>33669652  </a:t>
            </a:r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en-US" altLang="zh-TW" dirty="0"/>
              <a:t>Office hour</a:t>
            </a:r>
            <a:r>
              <a:rPr lang="zh-TW" altLang="en-US" dirty="0"/>
              <a:t>： 週一，二，四，五的下午皆可來找我</a:t>
            </a:r>
            <a:r>
              <a:rPr lang="en-US" altLang="zh-TW" dirty="0"/>
              <a:t>  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019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0045A1-25E1-4271-9BB2-E5E79F543A50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755576" y="335845"/>
            <a:ext cx="7848600" cy="560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TW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注意事項：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2200" dirty="0">
              <a:solidFill>
                <a:srgbClr val="3333FF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AutoNum type="arabicParenBoth"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本課程採行雙軌制，同學們可以來現場上課，或是可觀看 </a:t>
            </a:r>
            <a:r>
              <a:rPr lang="en-US" altLang="zh-TW" sz="22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NTUCool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的影片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AutoNum type="arabicParenBoth"/>
            </a:pP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AutoNum type="arabicParenBoth"/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請上課前，來這個網頁，將上課資料印好。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   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http://djj.ee.ntu.edu.tw/DE.htm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(3)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請各位同學踴躍出席 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(4)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作業不可以抄襲。作業若寫錯但有用心寫仍可以有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40%~90%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的分數，但抄襲或借人抄襲不給分。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(5)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每次作業有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11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AD6E54-AA25-41CC-A6FD-40DF75C1063B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3563938" y="1889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400" b="1">
                <a:solidFill>
                  <a:srgbClr val="3333FF"/>
                </a:solidFill>
                <a:ea typeface="標楷體" panose="03000509000000000000" pitchFamily="65" charset="-120"/>
              </a:rPr>
              <a:t>上課日期</a:t>
            </a:r>
            <a:endParaRPr lang="zh-TW" altLang="en-US" sz="2400">
              <a:solidFill>
                <a:srgbClr val="3333FF"/>
              </a:solidFill>
              <a:ea typeface="標楷體" panose="03000509000000000000" pitchFamily="65" charset="-120"/>
            </a:endParaRPr>
          </a:p>
        </p:txBody>
      </p:sp>
      <p:graphicFrame>
        <p:nvGraphicFramePr>
          <p:cNvPr id="6742" name="Group 5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306234"/>
              </p:ext>
            </p:extLst>
          </p:nvPr>
        </p:nvGraphicFramePr>
        <p:xfrm>
          <a:off x="684213" y="620713"/>
          <a:ext cx="7704137" cy="5440170"/>
        </p:xfrm>
        <a:graphic>
          <a:graphicData uri="http://schemas.openxmlformats.org/drawingml/2006/table">
            <a:tbl>
              <a:tblPr/>
              <a:tblGrid>
                <a:gridCol w="1697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Week Number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Date </a:t>
                      </a: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(Wednesday) </a:t>
                      </a:r>
                      <a:endParaRPr kumimoji="1" lang="en-US" altLang="zh-TW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Remark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9/3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2.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9/10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 </a:t>
                      </a:r>
                      <a:endParaRPr kumimoji="1" lang="en-US" altLang="zh-TW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3.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9/17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4.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9/24: HW1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5.                                 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10/1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6.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10/8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7.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10/15: HW2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8.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10/22: Midterms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範圍： </a:t>
                      </a: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(Sections 2-2 ~ 4-5)</a:t>
                      </a:r>
                      <a:endParaRPr kumimoji="1" lang="en-US" altLang="zh-TW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9.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10/29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10.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11/5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11.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11/12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12.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11/19: HW3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13.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11/26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14.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12/3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15.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12/10: HW4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000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16.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12/17: Finals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 </a:t>
                      </a:r>
                      <a:r>
                        <a:rPr kumimoji="1" lang="zh-TW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範圍： </a:t>
                      </a:r>
                      <a:r>
                        <a:rPr kumimoji="1" lang="en-US" altLang="zh-TW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(Sections 4-6 ~ 12-4)</a:t>
                      </a:r>
                    </a:p>
                  </a:txBody>
                  <a:tcPr marT="45705" marB="45705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1C9637-DB97-4225-9515-0C382C8B1754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3563938" y="1889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400" b="1">
                <a:solidFill>
                  <a:srgbClr val="3333FF"/>
                </a:solidFill>
                <a:ea typeface="標楷體" panose="03000509000000000000" pitchFamily="65" charset="-120"/>
              </a:rPr>
              <a:t>課程大綱</a:t>
            </a:r>
            <a:endParaRPr lang="zh-TW" altLang="en-US" sz="2400">
              <a:solidFill>
                <a:srgbClr val="3333FF"/>
              </a:solidFill>
              <a:ea typeface="標楷體" panose="03000509000000000000" pitchFamily="65" charset="-120"/>
            </a:endParaRPr>
          </a:p>
        </p:txBody>
      </p:sp>
      <p:sp>
        <p:nvSpPr>
          <p:cNvPr id="8196" name="Line 5"/>
          <p:cNvSpPr>
            <a:spLocks noChangeShapeType="1"/>
          </p:cNvSpPr>
          <p:nvPr/>
        </p:nvSpPr>
        <p:spPr bwMode="auto">
          <a:xfrm flipV="1">
            <a:off x="286377" y="3341023"/>
            <a:ext cx="2867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7" name="Line 6"/>
          <p:cNvSpPr>
            <a:spLocks noChangeShapeType="1"/>
          </p:cNvSpPr>
          <p:nvPr/>
        </p:nvSpPr>
        <p:spPr bwMode="auto">
          <a:xfrm>
            <a:off x="573143" y="1145877"/>
            <a:ext cx="2" cy="4705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8" name="Line 7"/>
          <p:cNvSpPr>
            <a:spLocks noChangeShapeType="1"/>
          </p:cNvSpPr>
          <p:nvPr/>
        </p:nvSpPr>
        <p:spPr bwMode="auto">
          <a:xfrm>
            <a:off x="574731" y="1145877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9" name="Text Box 8"/>
          <p:cNvSpPr txBox="1">
            <a:spLocks noChangeArrowheads="1"/>
          </p:cNvSpPr>
          <p:nvPr/>
        </p:nvSpPr>
        <p:spPr bwMode="auto">
          <a:xfrm>
            <a:off x="1293868" y="929977"/>
            <a:ext cx="2592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Introduction (Chap. 1)</a:t>
            </a:r>
          </a:p>
        </p:txBody>
      </p:sp>
      <p:sp>
        <p:nvSpPr>
          <p:cNvPr id="8200" name="Line 9"/>
          <p:cNvSpPr>
            <a:spLocks noChangeShapeType="1"/>
          </p:cNvSpPr>
          <p:nvPr/>
        </p:nvSpPr>
        <p:spPr bwMode="auto">
          <a:xfrm>
            <a:off x="574731" y="1726133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01" name="Text Box 11"/>
          <p:cNvSpPr txBox="1">
            <a:spLocks noChangeArrowheads="1"/>
          </p:cNvSpPr>
          <p:nvPr/>
        </p:nvSpPr>
        <p:spPr bwMode="auto">
          <a:xfrm>
            <a:off x="1293868" y="1510233"/>
            <a:ext cx="208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</a:rPr>
              <a:t>First Order DE</a:t>
            </a:r>
          </a:p>
        </p:txBody>
      </p:sp>
      <p:sp>
        <p:nvSpPr>
          <p:cNvPr id="8202" name="Line 12"/>
          <p:cNvSpPr>
            <a:spLocks noChangeShapeType="1"/>
          </p:cNvSpPr>
          <p:nvPr/>
        </p:nvSpPr>
        <p:spPr bwMode="auto">
          <a:xfrm>
            <a:off x="574731" y="2950096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03" name="Text Box 13"/>
          <p:cNvSpPr txBox="1">
            <a:spLocks noChangeArrowheads="1"/>
          </p:cNvSpPr>
          <p:nvPr/>
        </p:nvSpPr>
        <p:spPr bwMode="auto">
          <a:xfrm>
            <a:off x="1222431" y="2734196"/>
            <a:ext cx="2663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</a:rPr>
              <a:t>Higher Order DE</a:t>
            </a:r>
          </a:p>
        </p:txBody>
      </p:sp>
      <p:sp>
        <p:nvSpPr>
          <p:cNvPr id="8204" name="Line 14"/>
          <p:cNvSpPr>
            <a:spLocks noChangeShapeType="1"/>
          </p:cNvSpPr>
          <p:nvPr/>
        </p:nvSpPr>
        <p:spPr bwMode="auto">
          <a:xfrm>
            <a:off x="2951218" y="1726133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05" name="Line 15"/>
          <p:cNvSpPr>
            <a:spLocks noChangeShapeType="1"/>
          </p:cNvSpPr>
          <p:nvPr/>
        </p:nvSpPr>
        <p:spPr bwMode="auto">
          <a:xfrm flipH="1">
            <a:off x="4175181" y="1438796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06" name="Line 16"/>
          <p:cNvSpPr>
            <a:spLocks noChangeShapeType="1"/>
          </p:cNvSpPr>
          <p:nvPr/>
        </p:nvSpPr>
        <p:spPr bwMode="auto">
          <a:xfrm>
            <a:off x="4175181" y="1438796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07" name="Line 17"/>
          <p:cNvSpPr>
            <a:spLocks noChangeShapeType="1"/>
          </p:cNvSpPr>
          <p:nvPr/>
        </p:nvSpPr>
        <p:spPr bwMode="auto">
          <a:xfrm>
            <a:off x="4175181" y="1870596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08" name="Text Box 18"/>
          <p:cNvSpPr txBox="1">
            <a:spLocks noChangeArrowheads="1"/>
          </p:cNvSpPr>
          <p:nvPr/>
        </p:nvSpPr>
        <p:spPr bwMode="auto">
          <a:xfrm>
            <a:off x="4822881" y="1222896"/>
            <a:ext cx="1943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解法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(Chap. 2)</a:t>
            </a:r>
          </a:p>
        </p:txBody>
      </p:sp>
      <p:sp>
        <p:nvSpPr>
          <p:cNvPr id="8209" name="Text Box 19"/>
          <p:cNvSpPr txBox="1">
            <a:spLocks noChangeArrowheads="1"/>
          </p:cNvSpPr>
          <p:nvPr/>
        </p:nvSpPr>
        <p:spPr bwMode="auto">
          <a:xfrm>
            <a:off x="4822881" y="1581671"/>
            <a:ext cx="1943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</a:rPr>
              <a:t>應用 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</a:rPr>
              <a:t>(Chap. 3)</a:t>
            </a:r>
          </a:p>
        </p:txBody>
      </p:sp>
      <p:sp>
        <p:nvSpPr>
          <p:cNvPr id="8210" name="Line 20"/>
          <p:cNvSpPr>
            <a:spLocks noChangeShapeType="1"/>
          </p:cNvSpPr>
          <p:nvPr/>
        </p:nvSpPr>
        <p:spPr bwMode="auto">
          <a:xfrm>
            <a:off x="3238556" y="2950096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11" name="Line 21"/>
          <p:cNvSpPr>
            <a:spLocks noChangeShapeType="1"/>
          </p:cNvSpPr>
          <p:nvPr/>
        </p:nvSpPr>
        <p:spPr bwMode="auto">
          <a:xfrm>
            <a:off x="4173593" y="2577811"/>
            <a:ext cx="1586" cy="12133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12" name="Line 22"/>
          <p:cNvSpPr>
            <a:spLocks noChangeShapeType="1"/>
          </p:cNvSpPr>
          <p:nvPr/>
        </p:nvSpPr>
        <p:spPr bwMode="auto">
          <a:xfrm>
            <a:off x="4173595" y="2569608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13" name="Line 23"/>
          <p:cNvSpPr>
            <a:spLocks noChangeShapeType="1"/>
          </p:cNvSpPr>
          <p:nvPr/>
        </p:nvSpPr>
        <p:spPr bwMode="auto">
          <a:xfrm>
            <a:off x="4173594" y="2971287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14" name="Text Box 24"/>
          <p:cNvSpPr txBox="1">
            <a:spLocks noChangeArrowheads="1"/>
          </p:cNvSpPr>
          <p:nvPr/>
        </p:nvSpPr>
        <p:spPr bwMode="auto">
          <a:xfrm>
            <a:off x="4822881" y="2386719"/>
            <a:ext cx="1943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解法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(Chap. 4)</a:t>
            </a:r>
          </a:p>
        </p:txBody>
      </p:sp>
      <p:sp>
        <p:nvSpPr>
          <p:cNvPr id="8215" name="Text Box 25"/>
          <p:cNvSpPr txBox="1">
            <a:spLocks noChangeArrowheads="1"/>
          </p:cNvSpPr>
          <p:nvPr/>
        </p:nvSpPr>
        <p:spPr bwMode="auto">
          <a:xfrm>
            <a:off x="4788024" y="2772850"/>
            <a:ext cx="31191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應用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(Chap. 5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，範圍外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8216" name="Text Box 26"/>
          <p:cNvSpPr txBox="1">
            <a:spLocks noChangeArrowheads="1"/>
          </p:cNvSpPr>
          <p:nvPr/>
        </p:nvSpPr>
        <p:spPr bwMode="auto">
          <a:xfrm>
            <a:off x="4810941" y="3565202"/>
            <a:ext cx="3382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多項式解法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(Chap. 6)</a:t>
            </a:r>
          </a:p>
        </p:txBody>
      </p:sp>
      <p:sp>
        <p:nvSpPr>
          <p:cNvPr id="8217" name="Line 27"/>
          <p:cNvSpPr>
            <a:spLocks noChangeShapeType="1"/>
          </p:cNvSpPr>
          <p:nvPr/>
        </p:nvSpPr>
        <p:spPr bwMode="auto">
          <a:xfrm>
            <a:off x="4137080" y="3803250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18" name="Line 28"/>
          <p:cNvSpPr>
            <a:spLocks noChangeShapeType="1"/>
          </p:cNvSpPr>
          <p:nvPr/>
        </p:nvSpPr>
        <p:spPr bwMode="auto">
          <a:xfrm>
            <a:off x="573144" y="5850990"/>
            <a:ext cx="7207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19" name="Text Box 31"/>
          <p:cNvSpPr txBox="1">
            <a:spLocks noChangeArrowheads="1"/>
          </p:cNvSpPr>
          <p:nvPr/>
        </p:nvSpPr>
        <p:spPr bwMode="auto">
          <a:xfrm>
            <a:off x="1234234" y="5635090"/>
            <a:ext cx="1511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</a:rPr>
              <a:t>Transforms </a:t>
            </a:r>
          </a:p>
        </p:txBody>
      </p:sp>
      <p:sp>
        <p:nvSpPr>
          <p:cNvPr id="8220" name="Line 32"/>
          <p:cNvSpPr>
            <a:spLocks noChangeShapeType="1"/>
          </p:cNvSpPr>
          <p:nvPr/>
        </p:nvSpPr>
        <p:spPr bwMode="auto">
          <a:xfrm>
            <a:off x="2602658" y="5900111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21" name="Line 33"/>
          <p:cNvSpPr>
            <a:spLocks noChangeShapeType="1"/>
          </p:cNvSpPr>
          <p:nvPr/>
        </p:nvSpPr>
        <p:spPr bwMode="auto">
          <a:xfrm>
            <a:off x="3021134" y="5546050"/>
            <a:ext cx="13326" cy="8081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22" name="Text Box 34"/>
          <p:cNvSpPr txBox="1">
            <a:spLocks noChangeArrowheads="1"/>
          </p:cNvSpPr>
          <p:nvPr/>
        </p:nvSpPr>
        <p:spPr bwMode="auto">
          <a:xfrm>
            <a:off x="1286746" y="4196705"/>
            <a:ext cx="130879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Partial DE</a:t>
            </a:r>
          </a:p>
        </p:txBody>
      </p:sp>
      <p:sp>
        <p:nvSpPr>
          <p:cNvPr id="8223" name="Line 35"/>
          <p:cNvSpPr>
            <a:spLocks noChangeShapeType="1"/>
          </p:cNvSpPr>
          <p:nvPr/>
        </p:nvSpPr>
        <p:spPr bwMode="auto">
          <a:xfrm>
            <a:off x="574730" y="4417093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24" name="Line 36"/>
          <p:cNvSpPr>
            <a:spLocks noChangeShapeType="1"/>
          </p:cNvSpPr>
          <p:nvPr/>
        </p:nvSpPr>
        <p:spPr bwMode="auto">
          <a:xfrm>
            <a:off x="3034458" y="5536561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25" name="Text Box 37"/>
          <p:cNvSpPr txBox="1">
            <a:spLocks noChangeArrowheads="1"/>
          </p:cNvSpPr>
          <p:nvPr/>
        </p:nvSpPr>
        <p:spPr bwMode="auto">
          <a:xfrm>
            <a:off x="4018405" y="5310692"/>
            <a:ext cx="41890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Laplace Transform (Chap. 7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，範圍外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8226" name="Line 38"/>
          <p:cNvSpPr>
            <a:spLocks noChangeShapeType="1"/>
          </p:cNvSpPr>
          <p:nvPr/>
        </p:nvSpPr>
        <p:spPr bwMode="auto">
          <a:xfrm>
            <a:off x="3034458" y="5953390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27" name="Text Box 39"/>
          <p:cNvSpPr txBox="1">
            <a:spLocks noChangeArrowheads="1"/>
          </p:cNvSpPr>
          <p:nvPr/>
        </p:nvSpPr>
        <p:spPr bwMode="auto">
          <a:xfrm>
            <a:off x="4023767" y="5713963"/>
            <a:ext cx="2952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Fourier Series (Chap. 11)</a:t>
            </a:r>
          </a:p>
        </p:txBody>
      </p:sp>
      <p:sp>
        <p:nvSpPr>
          <p:cNvPr id="8228" name="Line 40"/>
          <p:cNvSpPr>
            <a:spLocks noChangeShapeType="1"/>
          </p:cNvSpPr>
          <p:nvPr/>
        </p:nvSpPr>
        <p:spPr bwMode="auto">
          <a:xfrm>
            <a:off x="3034459" y="6354228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29" name="Text Box 41"/>
          <p:cNvSpPr txBox="1">
            <a:spLocks noChangeArrowheads="1"/>
          </p:cNvSpPr>
          <p:nvPr/>
        </p:nvSpPr>
        <p:spPr bwMode="auto">
          <a:xfrm>
            <a:off x="4023767" y="6155790"/>
            <a:ext cx="46155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Fourier Transform (Chap. 14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，工數特論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8230" name="Line 17"/>
          <p:cNvSpPr>
            <a:spLocks noChangeShapeType="1"/>
          </p:cNvSpPr>
          <p:nvPr/>
        </p:nvSpPr>
        <p:spPr bwMode="auto">
          <a:xfrm>
            <a:off x="4175181" y="2230958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231" name="Text Box 19"/>
          <p:cNvSpPr txBox="1">
            <a:spLocks noChangeArrowheads="1"/>
          </p:cNvSpPr>
          <p:nvPr/>
        </p:nvSpPr>
        <p:spPr bwMode="auto">
          <a:xfrm>
            <a:off x="4822881" y="2013471"/>
            <a:ext cx="3384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矩陣解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(Chap. 8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，範圍外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2" name="矩形 1"/>
          <p:cNvSpPr/>
          <p:nvPr/>
        </p:nvSpPr>
        <p:spPr>
          <a:xfrm>
            <a:off x="4310982" y="3999163"/>
            <a:ext cx="29306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dirty="0"/>
              <a:t>解法 </a:t>
            </a:r>
            <a:r>
              <a:rPr lang="en-US" altLang="zh-TW" sz="2000" dirty="0"/>
              <a:t>(Sections 12-1, 12-4)</a:t>
            </a:r>
            <a:endParaRPr lang="zh-TW" altLang="en-US" sz="2000" dirty="0"/>
          </a:p>
        </p:txBody>
      </p:sp>
      <p:sp>
        <p:nvSpPr>
          <p:cNvPr id="41" name="Line 14"/>
          <p:cNvSpPr>
            <a:spLocks noChangeShapeType="1"/>
          </p:cNvSpPr>
          <p:nvPr/>
        </p:nvSpPr>
        <p:spPr bwMode="auto">
          <a:xfrm>
            <a:off x="2506312" y="4395141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2" name="Line 15"/>
          <p:cNvSpPr>
            <a:spLocks noChangeShapeType="1"/>
          </p:cNvSpPr>
          <p:nvPr/>
        </p:nvSpPr>
        <p:spPr bwMode="auto">
          <a:xfrm flipH="1">
            <a:off x="3730275" y="4196705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" name="Line 16"/>
          <p:cNvSpPr>
            <a:spLocks noChangeShapeType="1"/>
          </p:cNvSpPr>
          <p:nvPr/>
        </p:nvSpPr>
        <p:spPr bwMode="auto">
          <a:xfrm>
            <a:off x="3730275" y="4196705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" name="Line 17"/>
          <p:cNvSpPr>
            <a:spLocks noChangeShapeType="1"/>
          </p:cNvSpPr>
          <p:nvPr/>
        </p:nvSpPr>
        <p:spPr bwMode="auto">
          <a:xfrm>
            <a:off x="3730275" y="4628505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5" name="Line 17"/>
          <p:cNvSpPr>
            <a:spLocks noChangeShapeType="1"/>
          </p:cNvSpPr>
          <p:nvPr/>
        </p:nvSpPr>
        <p:spPr bwMode="auto">
          <a:xfrm>
            <a:off x="3730275" y="4988867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6" name="矩形 45"/>
          <p:cNvSpPr/>
          <p:nvPr/>
        </p:nvSpPr>
        <p:spPr>
          <a:xfrm>
            <a:off x="4306537" y="4396377"/>
            <a:ext cx="38587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dirty="0"/>
              <a:t>直角座標 </a:t>
            </a:r>
            <a:r>
              <a:rPr lang="en-US" altLang="zh-TW" sz="2000" dirty="0"/>
              <a:t>(Chapter 12</a:t>
            </a:r>
            <a:r>
              <a:rPr lang="zh-TW" altLang="en-US" sz="2000" dirty="0"/>
              <a:t>，工數特論</a:t>
            </a:r>
            <a:r>
              <a:rPr lang="en-US" altLang="zh-TW" sz="2000" dirty="0"/>
              <a:t>)</a:t>
            </a:r>
            <a:endParaRPr lang="zh-TW" altLang="en-US" sz="2000" dirty="0"/>
          </a:p>
        </p:txBody>
      </p:sp>
      <p:sp>
        <p:nvSpPr>
          <p:cNvPr id="47" name="矩形 46"/>
          <p:cNvSpPr/>
          <p:nvPr/>
        </p:nvSpPr>
        <p:spPr>
          <a:xfrm>
            <a:off x="4306537" y="4793591"/>
            <a:ext cx="36022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dirty="0"/>
              <a:t>圓座標 </a:t>
            </a:r>
            <a:r>
              <a:rPr lang="en-US" altLang="zh-TW" sz="2000" dirty="0"/>
              <a:t>(Chapter 13</a:t>
            </a:r>
            <a:r>
              <a:rPr lang="zh-TW" altLang="en-US" sz="2000" dirty="0"/>
              <a:t>，工數特論</a:t>
            </a:r>
            <a:r>
              <a:rPr lang="en-US" altLang="zh-TW" sz="2000" dirty="0"/>
              <a:t>)</a:t>
            </a:r>
            <a:endParaRPr lang="zh-TW" altLang="en-US" sz="2000" dirty="0"/>
          </a:p>
        </p:txBody>
      </p:sp>
      <p:sp>
        <p:nvSpPr>
          <p:cNvPr id="48" name="Line 23"/>
          <p:cNvSpPr>
            <a:spLocks noChangeShapeType="1"/>
          </p:cNvSpPr>
          <p:nvPr/>
        </p:nvSpPr>
        <p:spPr bwMode="auto">
          <a:xfrm>
            <a:off x="4161654" y="3341023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9" name="Text Box 25"/>
          <p:cNvSpPr txBox="1">
            <a:spLocks noChangeArrowheads="1"/>
          </p:cNvSpPr>
          <p:nvPr/>
        </p:nvSpPr>
        <p:spPr bwMode="auto">
          <a:xfrm>
            <a:off x="4788024" y="3205593"/>
            <a:ext cx="421132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非線性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(Sections 4-10, 5-3,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工數特論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1C9637-DB97-4225-9515-0C382C8B1754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3509191" y="487098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400" dirty="0">
                <a:solidFill>
                  <a:srgbClr val="3333FF"/>
                </a:solidFill>
                <a:ea typeface="標楷體" panose="03000509000000000000" pitchFamily="65" charset="-120"/>
              </a:rPr>
              <a:t>授課範圍</a:t>
            </a:r>
          </a:p>
        </p:txBody>
      </p:sp>
      <p:sp>
        <p:nvSpPr>
          <p:cNvPr id="50" name="Text Box 8"/>
          <p:cNvSpPr txBox="1">
            <a:spLocks noChangeArrowheads="1"/>
          </p:cNvSpPr>
          <p:nvPr/>
        </p:nvSpPr>
        <p:spPr bwMode="auto">
          <a:xfrm>
            <a:off x="2195686" y="1166283"/>
            <a:ext cx="2592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Sections 1-1, 1-2, 1-3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395486" y="1132271"/>
            <a:ext cx="1872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期中考範圍</a:t>
            </a:r>
          </a:p>
        </p:txBody>
      </p:sp>
      <p:sp>
        <p:nvSpPr>
          <p:cNvPr id="52" name="Text Box 8"/>
          <p:cNvSpPr txBox="1">
            <a:spLocks noChangeArrowheads="1"/>
          </p:cNvSpPr>
          <p:nvPr/>
        </p:nvSpPr>
        <p:spPr bwMode="auto">
          <a:xfrm>
            <a:off x="2195686" y="1597170"/>
            <a:ext cx="576064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Sections 2-1, </a:t>
            </a:r>
            <a:r>
              <a:rPr lang="en-US" altLang="zh-TW" sz="20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2-2, 2-3, 2-4, 2-5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, 2-6</a:t>
            </a:r>
          </a:p>
        </p:txBody>
      </p:sp>
      <p:sp>
        <p:nvSpPr>
          <p:cNvPr id="53" name="Text Box 8"/>
          <p:cNvSpPr txBox="1">
            <a:spLocks noChangeArrowheads="1"/>
          </p:cNvSpPr>
          <p:nvPr/>
        </p:nvSpPr>
        <p:spPr bwMode="auto">
          <a:xfrm>
            <a:off x="2195686" y="2030219"/>
            <a:ext cx="2592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Sections </a:t>
            </a:r>
            <a:r>
              <a:rPr lang="en-US" altLang="zh-TW" sz="20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3-1, 3-2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4" name="Text Box 8"/>
          <p:cNvSpPr txBox="1">
            <a:spLocks noChangeArrowheads="1"/>
          </p:cNvSpPr>
          <p:nvPr/>
        </p:nvSpPr>
        <p:spPr bwMode="auto">
          <a:xfrm>
            <a:off x="2200676" y="2463268"/>
            <a:ext cx="4315489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Sections </a:t>
            </a:r>
            <a:r>
              <a:rPr lang="en-US" altLang="zh-TW" sz="20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4-1, 4-2, 4-3, 4-4, 4-5</a:t>
            </a:r>
          </a:p>
        </p:txBody>
      </p:sp>
      <p:sp>
        <p:nvSpPr>
          <p:cNvPr id="55" name="文字方塊 54"/>
          <p:cNvSpPr txBox="1"/>
          <p:nvPr/>
        </p:nvSpPr>
        <p:spPr>
          <a:xfrm>
            <a:off x="395486" y="2994670"/>
            <a:ext cx="1872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期末考範圍</a:t>
            </a:r>
          </a:p>
        </p:txBody>
      </p:sp>
      <p:sp>
        <p:nvSpPr>
          <p:cNvPr id="56" name="Text Box 8"/>
          <p:cNvSpPr txBox="1">
            <a:spLocks noChangeArrowheads="1"/>
          </p:cNvSpPr>
          <p:nvPr/>
        </p:nvSpPr>
        <p:spPr bwMode="auto">
          <a:xfrm>
            <a:off x="2230307" y="3022339"/>
            <a:ext cx="255776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Sections </a:t>
            </a:r>
            <a:r>
              <a:rPr lang="en-US" altLang="zh-TW" sz="20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4-6, 4-7</a:t>
            </a:r>
          </a:p>
        </p:txBody>
      </p:sp>
      <p:sp>
        <p:nvSpPr>
          <p:cNvPr id="58" name="Text Box 8"/>
          <p:cNvSpPr txBox="1">
            <a:spLocks noChangeArrowheads="1"/>
          </p:cNvSpPr>
          <p:nvPr/>
        </p:nvSpPr>
        <p:spPr bwMode="auto">
          <a:xfrm>
            <a:off x="2230307" y="3517318"/>
            <a:ext cx="3882246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Sections </a:t>
            </a:r>
            <a:r>
              <a:rPr lang="en-US" altLang="zh-TW" sz="20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6-1, 6-2, 6-3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, 6-4</a:t>
            </a:r>
          </a:p>
        </p:txBody>
      </p:sp>
      <p:sp>
        <p:nvSpPr>
          <p:cNvPr id="59" name="Text Box 8"/>
          <p:cNvSpPr txBox="1">
            <a:spLocks noChangeArrowheads="1"/>
          </p:cNvSpPr>
          <p:nvPr/>
        </p:nvSpPr>
        <p:spPr bwMode="auto">
          <a:xfrm>
            <a:off x="2239485" y="4000656"/>
            <a:ext cx="525039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Sections </a:t>
            </a:r>
            <a:r>
              <a:rPr lang="en-US" altLang="zh-TW" sz="20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11-1, 11-2, 11-3</a:t>
            </a:r>
          </a:p>
        </p:txBody>
      </p:sp>
      <p:sp>
        <p:nvSpPr>
          <p:cNvPr id="60" name="Text Box 8"/>
          <p:cNvSpPr txBox="1">
            <a:spLocks noChangeArrowheads="1"/>
          </p:cNvSpPr>
          <p:nvPr/>
        </p:nvSpPr>
        <p:spPr bwMode="auto">
          <a:xfrm>
            <a:off x="2253886" y="4433705"/>
            <a:ext cx="525039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</a:rPr>
              <a:t>Sections </a:t>
            </a:r>
            <a:r>
              <a:rPr lang="en-US" altLang="zh-TW" sz="200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12-1, 12-4</a:t>
            </a:r>
            <a:endParaRPr lang="en-US" altLang="zh-TW" sz="2000" dirty="0">
              <a:solidFill>
                <a:srgbClr val="3333FF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5034835" y="4933231"/>
            <a:ext cx="31683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3333FF"/>
                </a:solidFill>
              </a:rPr>
              <a:t>blue colors: </a:t>
            </a:r>
            <a:r>
              <a:rPr lang="zh-TW" altLang="en-US" dirty="0">
                <a:solidFill>
                  <a:srgbClr val="3333FF"/>
                </a:solidFill>
              </a:rPr>
              <a:t>要考的章節</a:t>
            </a:r>
          </a:p>
        </p:txBody>
      </p:sp>
    </p:spTree>
    <p:extLst>
      <p:ext uri="{BB962C8B-B14F-4D97-AF65-F5344CB8AC3E}">
        <p14:creationId xmlns:p14="http://schemas.microsoft.com/office/powerpoint/2010/main" val="151033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200062-89F4-4980-AB50-16251807AF1F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/>
          </p:nvPr>
        </p:nvSpPr>
        <p:spPr>
          <a:xfrm>
            <a:off x="185738" y="228600"/>
            <a:ext cx="8713787" cy="1143000"/>
          </a:xfrm>
          <a:noFill/>
        </p:spPr>
        <p:txBody>
          <a:bodyPr lIns="0" rIns="0"/>
          <a:lstStyle/>
          <a:p>
            <a:pPr eaLnBrk="1" hangingPunct="1"/>
            <a:r>
              <a:rPr lang="en-US" altLang="zh-TW" sz="3200" b="1">
                <a:solidFill>
                  <a:srgbClr val="3333FF"/>
                </a:solidFill>
                <a:latin typeface="Times New Roman" panose="02020603050405020304" pitchFamily="18" charset="0"/>
              </a:rPr>
              <a:t>Chapter 1  Introduction to Differential Equations</a:t>
            </a:r>
          </a:p>
        </p:txBody>
      </p:sp>
      <p:sp>
        <p:nvSpPr>
          <p:cNvPr id="9220" name="Rectangle 7"/>
          <p:cNvSpPr>
            <a:spLocks noChangeArrowheads="1"/>
          </p:cNvSpPr>
          <p:nvPr/>
        </p:nvSpPr>
        <p:spPr bwMode="auto">
          <a:xfrm>
            <a:off x="468313" y="1268413"/>
            <a:ext cx="8229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b="1">
                <a:solidFill>
                  <a:srgbClr val="3333FF"/>
                </a:solidFill>
                <a:latin typeface="Times New Roman" panose="02020603050405020304" pitchFamily="18" charset="0"/>
              </a:rPr>
              <a:t>1.1  Definitions and Terminology (</a:t>
            </a:r>
            <a:r>
              <a:rPr lang="zh-TW" altLang="en-US" b="1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術語</a:t>
            </a:r>
            <a:r>
              <a:rPr lang="en-US" altLang="zh-TW" b="1">
                <a:solidFill>
                  <a:srgbClr val="3333FF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221" name="Text Box 8"/>
          <p:cNvSpPr txBox="1">
            <a:spLocks noChangeArrowheads="1"/>
          </p:cNvSpPr>
          <p:nvPr/>
        </p:nvSpPr>
        <p:spPr bwMode="auto">
          <a:xfrm>
            <a:off x="468313" y="2133600"/>
            <a:ext cx="7920037" cy="398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arenBoth"/>
            </a:pP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Differential Equation (DE): 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any equation containing derivation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(text page 3, definition 1.1)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                                  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                                </a:t>
            </a:r>
            <a:r>
              <a:rPr lang="en-US" altLang="zh-TW" sz="2200" i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:  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independent variable </a:t>
            </a:r>
            <a:r>
              <a:rPr lang="zh-TW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自變數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                                </a:t>
            </a:r>
            <a:r>
              <a:rPr lang="en-US" altLang="zh-TW" sz="2200" i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i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):  dependent variable </a:t>
            </a:r>
            <a:r>
              <a:rPr lang="zh-TW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應變數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</a:t>
            </a:r>
            <a:endParaRPr lang="zh-TW" altLang="en-US" sz="2200" i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30000"/>
              </a:spcBef>
              <a:buFontTx/>
              <a:buNone/>
            </a:pPr>
            <a:endParaRPr lang="zh-TW" altLang="en-US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30000"/>
              </a:spcBef>
              <a:buFontTx/>
              <a:buNone/>
            </a:pPr>
            <a:endParaRPr lang="zh-TW" altLang="en-US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30000"/>
              </a:spcBef>
              <a:buFontTx/>
              <a:buNone/>
            </a:pPr>
            <a:endParaRPr lang="zh-TW" altLang="en-US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30000"/>
              </a:spcBef>
              <a:buFontTx/>
              <a:buNone/>
            </a:pP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aphicFrame>
        <p:nvGraphicFramePr>
          <p:cNvPr id="9222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1258888" y="3573463"/>
          <a:ext cx="94138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4" name="Equation" r:id="rId3" imgW="1040948" imgH="672808" progId="Equation.DSMT4">
                  <p:embed/>
                </p:oleObj>
              </mc:Choice>
              <mc:Fallback>
                <p:oleObj name="Equation" r:id="rId3" imgW="1040948" imgH="67280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573463"/>
                        <a:ext cx="941387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340304"/>
              </p:ext>
            </p:extLst>
          </p:nvPr>
        </p:nvGraphicFramePr>
        <p:xfrm>
          <a:off x="1115616" y="4794790"/>
          <a:ext cx="412432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5" name="Equation" r:id="rId5" imgW="4127400" imgH="711000" progId="Equation.DSMT4">
                  <p:embed/>
                </p:oleObj>
              </mc:Choice>
              <mc:Fallback>
                <p:oleObj name="Equation" r:id="rId5" imgW="4127400" imgH="7110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794790"/>
                        <a:ext cx="412432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2843808" y="3142576"/>
            <a:ext cx="11521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(2)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F0BE91-BD3F-49FC-B709-E63D9A4C3415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611188" y="692150"/>
            <a:ext cx="7920037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Note: In the text book, 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f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) is often simplified as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f</a:t>
            </a:r>
            <a:endParaRPr lang="en-US" altLang="zh-TW" sz="220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</a:pPr>
            <a:endParaRPr lang="en-US" altLang="zh-TW" sz="220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notations of differentiation</a:t>
            </a:r>
          </a:p>
          <a:p>
            <a:pPr eaLnBrk="1" hangingPunct="1">
              <a:spcBef>
                <a:spcPct val="40000"/>
              </a:spcBef>
              <a:buFontTx/>
              <a:buNone/>
            </a:pPr>
            <a:endParaRPr lang="en-US" altLang="zh-TW" sz="220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            ,           ,            ,             ,  ……….    Leibniz notation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            ,           ,            ,             ,  ……….    prime notation</a:t>
            </a:r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            ,           ,            ,             ,  ……….    dot notation</a:t>
            </a:r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            ,           ,            ,             ,  ……….    subscript notation</a:t>
            </a:r>
          </a:p>
        </p:txBody>
      </p:sp>
      <p:graphicFrame>
        <p:nvGraphicFramePr>
          <p:cNvPr id="10244" name="Object 5"/>
          <p:cNvGraphicFramePr>
            <a:graphicFrameLocks noChangeAspect="1"/>
          </p:cNvGraphicFramePr>
          <p:nvPr/>
        </p:nvGraphicFramePr>
        <p:xfrm>
          <a:off x="2828925" y="2276475"/>
          <a:ext cx="5191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6" name="Equation" r:id="rId3" imgW="520474" imgH="710891" progId="Equation.DSMT4">
                  <p:embed/>
                </p:oleObj>
              </mc:Choice>
              <mc:Fallback>
                <p:oleObj name="Equation" r:id="rId3" imgW="520474" imgH="71089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5" y="2276475"/>
                        <a:ext cx="5191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6"/>
          <p:cNvGraphicFramePr>
            <a:graphicFrameLocks noChangeAspect="1"/>
          </p:cNvGraphicFramePr>
          <p:nvPr/>
        </p:nvGraphicFramePr>
        <p:xfrm>
          <a:off x="1184275" y="3116263"/>
          <a:ext cx="29210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7" name="Equation" r:id="rId5" imgW="291973" imgH="330057" progId="Equation.DSMT4">
                  <p:embed/>
                </p:oleObj>
              </mc:Choice>
              <mc:Fallback>
                <p:oleObj name="Equation" r:id="rId5" imgW="291973" imgH="33005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275" y="3116263"/>
                        <a:ext cx="292100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7"/>
          <p:cNvGraphicFramePr>
            <a:graphicFrameLocks noChangeAspect="1"/>
          </p:cNvGraphicFramePr>
          <p:nvPr/>
        </p:nvGraphicFramePr>
        <p:xfrm>
          <a:off x="1181100" y="2319338"/>
          <a:ext cx="341313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8" name="Equation" r:id="rId7" imgW="342751" imgH="672808" progId="Equation.DSMT4">
                  <p:embed/>
                </p:oleObj>
              </mc:Choice>
              <mc:Fallback>
                <p:oleObj name="Equation" r:id="rId7" imgW="342751" imgH="67280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2319338"/>
                        <a:ext cx="341313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8"/>
          <p:cNvGraphicFramePr>
            <a:graphicFrameLocks noChangeAspect="1"/>
          </p:cNvGraphicFramePr>
          <p:nvPr/>
        </p:nvGraphicFramePr>
        <p:xfrm>
          <a:off x="1952625" y="2281238"/>
          <a:ext cx="5318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9" name="Equation" r:id="rId9" imgW="533169" imgH="710891" progId="Equation.DSMT4">
                  <p:embed/>
                </p:oleObj>
              </mc:Choice>
              <mc:Fallback>
                <p:oleObj name="Equation" r:id="rId9" imgW="533169" imgH="71089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5" y="2281238"/>
                        <a:ext cx="5318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9"/>
          <p:cNvGraphicFramePr>
            <a:graphicFrameLocks noChangeAspect="1"/>
          </p:cNvGraphicFramePr>
          <p:nvPr/>
        </p:nvGraphicFramePr>
        <p:xfrm>
          <a:off x="3708400" y="2276475"/>
          <a:ext cx="5318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0" name="Equation" r:id="rId11" imgW="533169" imgH="710891" progId="Equation.DSMT4">
                  <p:embed/>
                </p:oleObj>
              </mc:Choice>
              <mc:Fallback>
                <p:oleObj name="Equation" r:id="rId11" imgW="533169" imgH="71089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276475"/>
                        <a:ext cx="5318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11"/>
          <p:cNvGraphicFramePr>
            <a:graphicFrameLocks noChangeAspect="1"/>
          </p:cNvGraphicFramePr>
          <p:nvPr/>
        </p:nvGraphicFramePr>
        <p:xfrm>
          <a:off x="2081213" y="3116263"/>
          <a:ext cx="33020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1" name="Equation" r:id="rId13" imgW="330057" imgH="330057" progId="Equation.DSMT4">
                  <p:embed/>
                </p:oleObj>
              </mc:Choice>
              <mc:Fallback>
                <p:oleObj name="Equation" r:id="rId13" imgW="330057" imgH="33005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3116263"/>
                        <a:ext cx="330200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2"/>
          <p:cNvGraphicFramePr>
            <a:graphicFrameLocks noChangeAspect="1"/>
          </p:cNvGraphicFramePr>
          <p:nvPr/>
        </p:nvGraphicFramePr>
        <p:xfrm>
          <a:off x="2916238" y="3141663"/>
          <a:ext cx="36830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2" name="Equation" r:id="rId15" imgW="368300" imgH="330200" progId="Equation.DSMT4">
                  <p:embed/>
                </p:oleObj>
              </mc:Choice>
              <mc:Fallback>
                <p:oleObj name="Equation" r:id="rId15" imgW="368300" imgH="330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141663"/>
                        <a:ext cx="368300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3"/>
          <p:cNvGraphicFramePr>
            <a:graphicFrameLocks noChangeAspect="1"/>
          </p:cNvGraphicFramePr>
          <p:nvPr/>
        </p:nvGraphicFramePr>
        <p:xfrm>
          <a:off x="3779838" y="3079750"/>
          <a:ext cx="4572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3" name="Equation" r:id="rId17" imgW="457200" imgH="368300" progId="Equation.DSMT4">
                  <p:embed/>
                </p:oleObj>
              </mc:Choice>
              <mc:Fallback>
                <p:oleObj name="Equation" r:id="rId17" imgW="457200" imgH="3683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079750"/>
                        <a:ext cx="4572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4"/>
          <p:cNvGraphicFramePr>
            <a:graphicFrameLocks noChangeAspect="1"/>
          </p:cNvGraphicFramePr>
          <p:nvPr/>
        </p:nvGraphicFramePr>
        <p:xfrm>
          <a:off x="1246188" y="3582988"/>
          <a:ext cx="2413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4" name="Equation" r:id="rId19" imgW="241300" imgH="368300" progId="Equation.DSMT4">
                  <p:embed/>
                </p:oleObj>
              </mc:Choice>
              <mc:Fallback>
                <p:oleObj name="Equation" r:id="rId19" imgW="241300" imgH="3683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3582988"/>
                        <a:ext cx="2413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5"/>
          <p:cNvGraphicFramePr>
            <a:graphicFrameLocks noChangeAspect="1"/>
          </p:cNvGraphicFramePr>
          <p:nvPr/>
        </p:nvGraphicFramePr>
        <p:xfrm>
          <a:off x="2027238" y="3582988"/>
          <a:ext cx="2413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5" name="Equation" r:id="rId21" imgW="241300" imgH="368300" progId="Equation.DSMT4">
                  <p:embed/>
                </p:oleObj>
              </mc:Choice>
              <mc:Fallback>
                <p:oleObj name="Equation" r:id="rId21" imgW="241300" imgH="3683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3582988"/>
                        <a:ext cx="2413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16"/>
          <p:cNvGraphicFramePr>
            <a:graphicFrameLocks noChangeAspect="1"/>
          </p:cNvGraphicFramePr>
          <p:nvPr/>
        </p:nvGraphicFramePr>
        <p:xfrm>
          <a:off x="2916238" y="3582988"/>
          <a:ext cx="2540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6" name="Equation" r:id="rId23" imgW="253890" imgH="368140" progId="Equation.DSMT4">
                  <p:embed/>
                </p:oleObj>
              </mc:Choice>
              <mc:Fallback>
                <p:oleObj name="Equation" r:id="rId23" imgW="253890" imgH="3681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582988"/>
                        <a:ext cx="2540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7"/>
          <p:cNvGraphicFramePr>
            <a:graphicFrameLocks noChangeAspect="1"/>
          </p:cNvGraphicFramePr>
          <p:nvPr/>
        </p:nvGraphicFramePr>
        <p:xfrm>
          <a:off x="3851275" y="3582988"/>
          <a:ext cx="2794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7" name="Equation" r:id="rId25" imgW="279400" imgH="368300" progId="Equation.DSMT4">
                  <p:embed/>
                </p:oleObj>
              </mc:Choice>
              <mc:Fallback>
                <p:oleObj name="Equation" r:id="rId25" imgW="279400" imgH="3683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582988"/>
                        <a:ext cx="2794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8"/>
          <p:cNvGraphicFramePr>
            <a:graphicFrameLocks noChangeAspect="1"/>
          </p:cNvGraphicFramePr>
          <p:nvPr/>
        </p:nvGraphicFramePr>
        <p:xfrm>
          <a:off x="1216025" y="4046538"/>
          <a:ext cx="2667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8" name="Equation" r:id="rId27" imgW="266469" imgH="342603" progId="Equation.DSMT4">
                  <p:embed/>
                </p:oleObj>
              </mc:Choice>
              <mc:Fallback>
                <p:oleObj name="Equation" r:id="rId27" imgW="266469" imgH="342603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4046538"/>
                        <a:ext cx="26670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19"/>
          <p:cNvGraphicFramePr>
            <a:graphicFrameLocks noChangeAspect="1"/>
          </p:cNvGraphicFramePr>
          <p:nvPr/>
        </p:nvGraphicFramePr>
        <p:xfrm>
          <a:off x="1895475" y="4046538"/>
          <a:ext cx="3429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9" name="Equation" r:id="rId29" imgW="342751" imgH="342751" progId="Equation.DSMT4">
                  <p:embed/>
                </p:oleObj>
              </mc:Choice>
              <mc:Fallback>
                <p:oleObj name="Equation" r:id="rId29" imgW="342751" imgH="342751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4046538"/>
                        <a:ext cx="34290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20"/>
          <p:cNvGraphicFramePr>
            <a:graphicFrameLocks noChangeAspect="1"/>
          </p:cNvGraphicFramePr>
          <p:nvPr/>
        </p:nvGraphicFramePr>
        <p:xfrm>
          <a:off x="2870200" y="4046538"/>
          <a:ext cx="4064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70" name="Equation" r:id="rId31" imgW="406048" imgH="342603" progId="Equation.DSMT4">
                  <p:embed/>
                </p:oleObj>
              </mc:Choice>
              <mc:Fallback>
                <p:oleObj name="Equation" r:id="rId31" imgW="406048" imgH="342603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4046538"/>
                        <a:ext cx="40640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9" name="Object 21"/>
          <p:cNvGraphicFramePr>
            <a:graphicFrameLocks noChangeAspect="1"/>
          </p:cNvGraphicFramePr>
          <p:nvPr/>
        </p:nvGraphicFramePr>
        <p:xfrm>
          <a:off x="3729038" y="4071938"/>
          <a:ext cx="4826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71" name="Equation" r:id="rId33" imgW="482391" imgH="342751" progId="Equation.DSMT4">
                  <p:embed/>
                </p:oleObj>
              </mc:Choice>
              <mc:Fallback>
                <p:oleObj name="Equation" r:id="rId33" imgW="482391" imgH="342751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038" y="4071938"/>
                        <a:ext cx="48260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3AD4CF-B247-41ED-8A3A-B315449BDC30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468313" y="549275"/>
            <a:ext cx="7920037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(3) Ordinary Differential Equation (ODE):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differentiation with respect to 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one independent variable</a:t>
            </a: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395288" y="3213100"/>
            <a:ext cx="7920037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(4) Partial Differential Equation (PDE):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differentiation with respect to 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two or more independent variables</a:t>
            </a:r>
          </a:p>
        </p:txBody>
      </p:sp>
      <p:graphicFrame>
        <p:nvGraphicFramePr>
          <p:cNvPr id="11269" name="Object 6"/>
          <p:cNvGraphicFramePr>
            <a:graphicFrameLocks noChangeAspect="1"/>
          </p:cNvGraphicFramePr>
          <p:nvPr/>
        </p:nvGraphicFramePr>
        <p:xfrm>
          <a:off x="839788" y="1814513"/>
          <a:ext cx="3360737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" name="Equation" r:id="rId3" imgW="3378200" imgH="711200" progId="Equation.DSMT4">
                  <p:embed/>
                </p:oleObj>
              </mc:Choice>
              <mc:Fallback>
                <p:oleObj name="Equation" r:id="rId3" imgW="3378200" imgH="71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1814513"/>
                        <a:ext cx="3360737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7"/>
          <p:cNvGraphicFramePr>
            <a:graphicFrameLocks noChangeAspect="1"/>
          </p:cNvGraphicFramePr>
          <p:nvPr/>
        </p:nvGraphicFramePr>
        <p:xfrm>
          <a:off x="4787900" y="1844675"/>
          <a:ext cx="2487613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4" name="Equation" r:id="rId5" imgW="2501900" imgH="673100" progId="Equation.DSMT4">
                  <p:embed/>
                </p:oleObj>
              </mc:Choice>
              <mc:Fallback>
                <p:oleObj name="Equation" r:id="rId5" imgW="25019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844675"/>
                        <a:ext cx="2487613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8"/>
          <p:cNvGraphicFramePr>
            <a:graphicFrameLocks noChangeAspect="1"/>
          </p:cNvGraphicFramePr>
          <p:nvPr/>
        </p:nvGraphicFramePr>
        <p:xfrm>
          <a:off x="1079500" y="4262438"/>
          <a:ext cx="151447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5" name="Equation" r:id="rId7" imgW="1524000" imgH="762000" progId="Equation.DSMT4">
                  <p:embed/>
                </p:oleObj>
              </mc:Choice>
              <mc:Fallback>
                <p:oleObj name="Equation" r:id="rId7" imgW="1524000" imgH="762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4262438"/>
                        <a:ext cx="1514475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9"/>
          <p:cNvGraphicFramePr>
            <a:graphicFrameLocks noChangeAspect="1"/>
          </p:cNvGraphicFramePr>
          <p:nvPr/>
        </p:nvGraphicFramePr>
        <p:xfrm>
          <a:off x="4787900" y="4365625"/>
          <a:ext cx="10112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6" name="Equation" r:id="rId9" imgW="1016000" imgH="736600" progId="Equation.DSMT4">
                  <p:embed/>
                </p:oleObj>
              </mc:Choice>
              <mc:Fallback>
                <p:oleObj name="Equation" r:id="rId9" imgW="1016000" imgH="736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365625"/>
                        <a:ext cx="101123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51492F-1430-4E3E-BF6D-B8498E50ABEC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611188" y="692150"/>
            <a:ext cx="7993062" cy="126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(5) Order of a Differentiation Equation: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the order of the highest derivative in the equation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aphicFrame>
        <p:nvGraphicFramePr>
          <p:cNvPr id="12292" name="Object 5"/>
          <p:cNvGraphicFramePr>
            <a:graphicFrameLocks noChangeAspect="1"/>
          </p:cNvGraphicFramePr>
          <p:nvPr/>
        </p:nvGraphicFramePr>
        <p:xfrm>
          <a:off x="1331913" y="1628775"/>
          <a:ext cx="343376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7" name="Equation" r:id="rId3" imgW="3454400" imgH="711200" progId="Equation.DSMT4">
                  <p:embed/>
                </p:oleObj>
              </mc:Choice>
              <mc:Fallback>
                <p:oleObj name="Equation" r:id="rId3" imgW="34544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628775"/>
                        <a:ext cx="3433762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Line 7"/>
          <p:cNvSpPr>
            <a:spLocks noChangeShapeType="1"/>
          </p:cNvSpPr>
          <p:nvPr/>
        </p:nvSpPr>
        <p:spPr bwMode="auto">
          <a:xfrm>
            <a:off x="1331913" y="2349500"/>
            <a:ext cx="576262" cy="0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294" name="Text Box 9"/>
          <p:cNvSpPr txBox="1">
            <a:spLocks noChangeArrowheads="1"/>
          </p:cNvSpPr>
          <p:nvPr/>
        </p:nvSpPr>
        <p:spPr bwMode="auto">
          <a:xfrm>
            <a:off x="5076825" y="1700213"/>
            <a:ext cx="14398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7</a:t>
            </a:r>
            <a:r>
              <a:rPr lang="en-US" altLang="zh-TW" sz="2200" baseline="30000">
                <a:latin typeface="Times New Roman" panose="02020603050405020304" pitchFamily="18" charset="0"/>
                <a:ea typeface="標楷體" panose="03000509000000000000" pitchFamily="65" charset="-120"/>
              </a:rPr>
              <a:t>th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order</a:t>
            </a:r>
          </a:p>
        </p:txBody>
      </p:sp>
      <p:graphicFrame>
        <p:nvGraphicFramePr>
          <p:cNvPr id="12295" name="Object 10"/>
          <p:cNvGraphicFramePr>
            <a:graphicFrameLocks noChangeAspect="1"/>
          </p:cNvGraphicFramePr>
          <p:nvPr/>
        </p:nvGraphicFramePr>
        <p:xfrm>
          <a:off x="1403350" y="2781300"/>
          <a:ext cx="22352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8" name="Equation" r:id="rId5" imgW="2247900" imgH="711200" progId="Equation.DSMT4">
                  <p:embed/>
                </p:oleObj>
              </mc:Choice>
              <mc:Fallback>
                <p:oleObj name="Equation" r:id="rId5" imgW="2247900" imgH="71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781300"/>
                        <a:ext cx="22352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11"/>
          <p:cNvSpPr txBox="1">
            <a:spLocks noChangeArrowheads="1"/>
          </p:cNvSpPr>
          <p:nvPr/>
        </p:nvSpPr>
        <p:spPr bwMode="auto">
          <a:xfrm>
            <a:off x="5076825" y="2852738"/>
            <a:ext cx="15843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r>
              <a:rPr lang="en-US" altLang="zh-TW" sz="2200" baseline="30000">
                <a:latin typeface="Times New Roman" panose="02020603050405020304" pitchFamily="18" charset="0"/>
                <a:ea typeface="標楷體" panose="03000509000000000000" pitchFamily="65" charset="-120"/>
              </a:rPr>
              <a:t>nd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order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0E411B-0575-4BBD-A6E5-E9A5E6D7C5D9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755650" y="549275"/>
            <a:ext cx="77041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(6) Linear Differentiation Equation:</a:t>
            </a:r>
          </a:p>
        </p:txBody>
      </p:sp>
      <p:graphicFrame>
        <p:nvGraphicFramePr>
          <p:cNvPr id="133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466850"/>
              </p:ext>
            </p:extLst>
          </p:nvPr>
        </p:nvGraphicFramePr>
        <p:xfrm>
          <a:off x="977854" y="947886"/>
          <a:ext cx="643096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1" name="Equation" r:id="rId3" imgW="6426200" imgH="711200" progId="Equation.DSMT4">
                  <p:embed/>
                </p:oleObj>
              </mc:Choice>
              <mc:Fallback>
                <p:oleObj name="Equation" r:id="rId3" imgW="6426200" imgH="71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854" y="947886"/>
                        <a:ext cx="643096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8"/>
          <p:cNvSpPr txBox="1">
            <a:spLocks noChangeArrowheads="1"/>
          </p:cNvSpPr>
          <p:nvPr/>
        </p:nvSpPr>
        <p:spPr bwMode="auto">
          <a:xfrm>
            <a:off x="371873" y="2346932"/>
            <a:ext cx="84357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(ii) All of the coefficient terms </a:t>
            </a:r>
            <a:r>
              <a:rPr lang="en-US" altLang="zh-TW" sz="2200" i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200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i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 </a:t>
            </a:r>
            <a:r>
              <a:rPr lang="en-US" altLang="zh-TW" sz="2200" i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=  1, 2, …, </a:t>
            </a:r>
            <a:r>
              <a:rPr lang="en-US" altLang="zh-TW" sz="2200" i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are </a:t>
            </a:r>
            <a:r>
              <a:rPr lang="en-US" altLang="zh-TW" sz="2200" u="sng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independent of </a:t>
            </a:r>
            <a:r>
              <a:rPr lang="en-US" altLang="zh-TW" sz="2200" i="1" u="sng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.  </a:t>
            </a:r>
          </a:p>
        </p:txBody>
      </p:sp>
      <p:sp>
        <p:nvSpPr>
          <p:cNvPr id="13319" name="Text Box 9"/>
          <p:cNvSpPr txBox="1">
            <a:spLocks noChangeArrowheads="1"/>
          </p:cNvSpPr>
          <p:nvPr/>
        </p:nvSpPr>
        <p:spPr bwMode="auto">
          <a:xfrm>
            <a:off x="693613" y="2826574"/>
            <a:ext cx="6985000" cy="307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Property of </a:t>
            </a:r>
            <a:r>
              <a:rPr lang="en-US" altLang="zh-TW" sz="2200" u="sng" dirty="0">
                <a:latin typeface="Times New Roman" panose="02020603050405020304" pitchFamily="18" charset="0"/>
                <a:ea typeface="標楷體" panose="03000509000000000000" pitchFamily="65" charset="-120"/>
              </a:rPr>
              <a:t>linear differentiation equations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: </a:t>
            </a:r>
          </a:p>
          <a:p>
            <a:pPr eaLnBrk="1" hangingPunct="1">
              <a:spcBef>
                <a:spcPct val="6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If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10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</a:p>
          <a:p>
            <a:pPr eaLnBrk="1" hangingPunct="1">
              <a:spcBef>
                <a:spcPct val="6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and </a:t>
            </a:r>
            <a:r>
              <a:rPr lang="en-US" altLang="zh-TW" sz="2200" i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= </a:t>
            </a:r>
            <a:r>
              <a:rPr lang="en-US" altLang="zh-TW" sz="2200" i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by</a:t>
            </a:r>
            <a:r>
              <a:rPr lang="en-US" altLang="zh-TW" sz="2200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+ </a:t>
            </a:r>
            <a:r>
              <a:rPr lang="en-US" altLang="zh-TW" sz="2200" i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cy</a:t>
            </a:r>
            <a:r>
              <a:rPr lang="en-US" altLang="zh-TW" sz="2200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, then</a:t>
            </a:r>
          </a:p>
          <a:p>
            <a:pPr eaLnBrk="1" hangingPunct="1">
              <a:spcBef>
                <a:spcPct val="60000"/>
              </a:spcBef>
              <a:buFontTx/>
              <a:buNone/>
            </a:pP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aphicFrame>
        <p:nvGraphicFramePr>
          <p:cNvPr id="1332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794439"/>
              </p:ext>
            </p:extLst>
          </p:nvPr>
        </p:nvGraphicFramePr>
        <p:xfrm>
          <a:off x="1093663" y="3218687"/>
          <a:ext cx="67865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2" name="Equation" r:id="rId5" imgW="6781680" imgH="711000" progId="Equation.DSMT4">
                  <p:embed/>
                </p:oleObj>
              </mc:Choice>
              <mc:Fallback>
                <p:oleObj name="Equation" r:id="rId5" imgW="6781680" imgH="711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663" y="3218687"/>
                        <a:ext cx="67865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379817"/>
              </p:ext>
            </p:extLst>
          </p:nvPr>
        </p:nvGraphicFramePr>
        <p:xfrm>
          <a:off x="1020638" y="4010849"/>
          <a:ext cx="69373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3" name="Equation" r:id="rId7" imgW="6933960" imgH="711000" progId="Equation.DSMT4">
                  <p:embed/>
                </p:oleObj>
              </mc:Choice>
              <mc:Fallback>
                <p:oleObj name="Equation" r:id="rId7" imgW="6933960" imgH="711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638" y="4010849"/>
                        <a:ext cx="693737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551788"/>
              </p:ext>
            </p:extLst>
          </p:nvPr>
        </p:nvGraphicFramePr>
        <p:xfrm>
          <a:off x="965075" y="5371337"/>
          <a:ext cx="78247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4" name="Equation" r:id="rId9" imgW="8001000" imgH="711000" progId="Equation.DSMT4">
                  <p:embed/>
                </p:oleObj>
              </mc:Choice>
              <mc:Fallback>
                <p:oleObj name="Equation" r:id="rId9" imgW="8001000" imgH="711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075" y="5371337"/>
                        <a:ext cx="782478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150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68913" y="3386962"/>
              <a:ext cx="1587" cy="1587"/>
            </p14:xfrm>
          </p:contentPart>
        </mc:Choice>
        <mc:Fallback xmlns="">
          <p:pic>
            <p:nvPicPr>
              <p:cNvPr id="6150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27651" y="3345700"/>
                <a:ext cx="84111" cy="84111"/>
              </a:xfrm>
              <a:prstGeom prst="rect">
                <a:avLst/>
              </a:prstGeom>
            </p:spPr>
          </p:pic>
        </mc:Fallback>
      </mc:AlternateContent>
      <p:sp>
        <p:nvSpPr>
          <p:cNvPr id="13324" name="矩形 1"/>
          <p:cNvSpPr>
            <a:spLocks noChangeArrowheads="1"/>
          </p:cNvSpPr>
          <p:nvPr/>
        </p:nvSpPr>
        <p:spPr bwMode="auto">
          <a:xfrm>
            <a:off x="1649288" y="6061899"/>
            <a:ext cx="6265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(if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) is treated as the input and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g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) is the output)</a:t>
            </a:r>
            <a:endParaRPr lang="zh-TW" altLang="en-US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C2885582-44C7-442D-A451-016F10CE9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36" y="1844824"/>
            <a:ext cx="84357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dirty="0" err="1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) For </a:t>
            </a:r>
            <a:r>
              <a:rPr lang="en-US" altLang="zh-TW" sz="2200" i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, only the terms                                     appear.  </a:t>
            </a: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0650781A-B7EF-41A3-959F-99F84DD3EF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052589"/>
              </p:ext>
            </p:extLst>
          </p:nvPr>
        </p:nvGraphicFramePr>
        <p:xfrm>
          <a:off x="3203848" y="1680182"/>
          <a:ext cx="232568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5" name="Equation" r:id="rId13" imgW="2323800" imgH="685800" progId="Equation.DSMT4">
                  <p:embed/>
                </p:oleObj>
              </mc:Choice>
              <mc:Fallback>
                <p:oleObj name="Equation" r:id="rId13" imgW="2323800" imgH="685800" progId="Equation.DSMT4">
                  <p:embed/>
                  <p:pic>
                    <p:nvPicPr>
                      <p:cNvPr id="1331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1680182"/>
                        <a:ext cx="2325687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1F7F42-F2EB-40A5-8B32-8F7C08B2E4C6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9" name="Text Box 4"/>
          <p:cNvSpPr txBox="1">
            <a:spLocks noChangeArrowheads="1"/>
          </p:cNvSpPr>
          <p:nvPr/>
        </p:nvSpPr>
        <p:spPr bwMode="auto">
          <a:xfrm>
            <a:off x="755650" y="549275"/>
            <a:ext cx="77041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(7) Non-Linear Differentiation Equation</a:t>
            </a:r>
          </a:p>
        </p:txBody>
      </p:sp>
      <p:graphicFrame>
        <p:nvGraphicFramePr>
          <p:cNvPr id="14340" name="Object 5"/>
          <p:cNvGraphicFramePr>
            <a:graphicFrameLocks noChangeAspect="1"/>
          </p:cNvGraphicFramePr>
          <p:nvPr/>
        </p:nvGraphicFramePr>
        <p:xfrm>
          <a:off x="1289050" y="1236663"/>
          <a:ext cx="27828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8" name="Equation" r:id="rId3" imgW="2781300" imgH="711200" progId="Equation.DSMT4">
                  <p:embed/>
                </p:oleObj>
              </mc:Choice>
              <mc:Fallback>
                <p:oleObj name="Equation" r:id="rId3" imgW="27813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1236663"/>
                        <a:ext cx="278288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6"/>
          <p:cNvGraphicFramePr>
            <a:graphicFrameLocks noChangeAspect="1"/>
          </p:cNvGraphicFramePr>
          <p:nvPr/>
        </p:nvGraphicFramePr>
        <p:xfrm>
          <a:off x="1320800" y="2173288"/>
          <a:ext cx="20716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9" name="Equation" r:id="rId5" imgW="2070100" imgH="711200" progId="Equation.DSMT4">
                  <p:embed/>
                </p:oleObj>
              </mc:Choice>
              <mc:Fallback>
                <p:oleObj name="Equation" r:id="rId5" imgW="2070100" imgH="71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2173288"/>
                        <a:ext cx="207168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7"/>
          <p:cNvGraphicFramePr>
            <a:graphicFrameLocks noChangeAspect="1"/>
          </p:cNvGraphicFramePr>
          <p:nvPr/>
        </p:nvGraphicFramePr>
        <p:xfrm>
          <a:off x="1331913" y="3213100"/>
          <a:ext cx="204628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30" name="Equation" r:id="rId7" imgW="2044700" imgH="711200" progId="Equation.DSMT4">
                  <p:embed/>
                </p:oleObj>
              </mc:Choice>
              <mc:Fallback>
                <p:oleObj name="Equation" r:id="rId7" imgW="2044700" imgH="71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213100"/>
                        <a:ext cx="2046287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2"/>
          <p:cNvSpPr>
            <a:spLocks noChangeArrowheads="1"/>
          </p:cNvSpPr>
          <p:nvPr/>
        </p:nvSpPr>
        <p:spPr bwMode="auto">
          <a:xfrm>
            <a:off x="900113" y="950913"/>
            <a:ext cx="215423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2200"/>
              <a:t>(a) The equations</a:t>
            </a:r>
            <a:endParaRPr lang="zh-TW" altLang="en-US" sz="2200"/>
          </a:p>
        </p:txBody>
      </p:sp>
      <p:sp>
        <p:nvSpPr>
          <p:cNvPr id="18435" name="矩形 4"/>
          <p:cNvSpPr>
            <a:spLocks noChangeArrowheads="1"/>
          </p:cNvSpPr>
          <p:nvPr/>
        </p:nvSpPr>
        <p:spPr bwMode="auto">
          <a:xfrm>
            <a:off x="900113" y="2420938"/>
            <a:ext cx="7921625" cy="395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US" altLang="zh-TW" sz="2200" dirty="0"/>
              <a:t>are, in turn, </a:t>
            </a:r>
            <a:r>
              <a:rPr lang="en-US" altLang="zh-TW" sz="2200" i="1" dirty="0">
                <a:solidFill>
                  <a:srgbClr val="FF0000"/>
                </a:solidFill>
              </a:rPr>
              <a:t>linear</a:t>
            </a:r>
            <a:r>
              <a:rPr lang="en-US" altLang="zh-TW" sz="2200" i="1" dirty="0"/>
              <a:t> </a:t>
            </a:r>
            <a:r>
              <a:rPr lang="en-US" altLang="zh-TW" sz="2200" dirty="0"/>
              <a:t>first-, second-, and third-order ordinary differential equations. We have just demonstrated that the first equation is linear in the variable </a:t>
            </a:r>
            <a:r>
              <a:rPr lang="en-US" altLang="zh-TW" sz="2200" i="1" dirty="0"/>
              <a:t>y </a:t>
            </a:r>
            <a:r>
              <a:rPr lang="en-US" altLang="zh-TW" sz="2200" dirty="0"/>
              <a:t>by writing it in the alternative form 4</a:t>
            </a:r>
            <a:r>
              <a:rPr lang="en-US" altLang="zh-TW" sz="2200" i="1" dirty="0"/>
              <a:t>xy’ +</a:t>
            </a:r>
            <a:r>
              <a:rPr lang="en-US" altLang="zh-TW" sz="2200" dirty="0"/>
              <a:t> </a:t>
            </a:r>
            <a:r>
              <a:rPr lang="en-US" altLang="zh-TW" sz="2200" i="1" dirty="0"/>
              <a:t>y =</a:t>
            </a:r>
            <a:r>
              <a:rPr lang="en-US" altLang="zh-TW" sz="2200" dirty="0"/>
              <a:t> </a:t>
            </a:r>
            <a:r>
              <a:rPr lang="en-US" altLang="zh-TW" sz="2200" i="1" dirty="0"/>
              <a:t>x</a:t>
            </a:r>
            <a:r>
              <a:rPr lang="en-US" altLang="zh-TW" sz="2200" dirty="0"/>
              <a:t>.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US" altLang="zh-TW" sz="2200" dirty="0"/>
              <a:t>(b) The equations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US" altLang="zh-TW" sz="2200" dirty="0"/>
          </a:p>
          <a:p>
            <a:pPr algn="just">
              <a:spcBef>
                <a:spcPct val="0"/>
              </a:spcBef>
              <a:buFontTx/>
              <a:buNone/>
            </a:pPr>
            <a:endParaRPr lang="en-US" altLang="zh-TW" sz="2200" dirty="0"/>
          </a:p>
          <a:p>
            <a:pPr algn="just">
              <a:spcBef>
                <a:spcPct val="0"/>
              </a:spcBef>
              <a:buFontTx/>
              <a:buNone/>
            </a:pPr>
            <a:endParaRPr lang="en-US" altLang="zh-TW" sz="2200" dirty="0"/>
          </a:p>
          <a:p>
            <a:pPr algn="just">
              <a:spcBef>
                <a:spcPct val="0"/>
              </a:spcBef>
              <a:buFontTx/>
              <a:buNone/>
            </a:pPr>
            <a:endParaRPr lang="en-US" altLang="zh-TW" sz="2200" dirty="0"/>
          </a:p>
          <a:p>
            <a:pPr algn="just">
              <a:buFont typeface="Arial" panose="020B0604020202020204" pitchFamily="34" charset="0"/>
              <a:buNone/>
            </a:pPr>
            <a:r>
              <a:rPr lang="en-US" altLang="zh-TW" sz="2200" dirty="0"/>
              <a:t>are examples of </a:t>
            </a:r>
            <a:r>
              <a:rPr lang="en-US" altLang="zh-TW" sz="2200" i="1" dirty="0">
                <a:solidFill>
                  <a:srgbClr val="FF0000"/>
                </a:solidFill>
              </a:rPr>
              <a:t>nonlinear</a:t>
            </a:r>
            <a:r>
              <a:rPr lang="en-US" altLang="zh-TW" sz="2200" i="1" dirty="0"/>
              <a:t> </a:t>
            </a:r>
            <a:r>
              <a:rPr lang="en-US" altLang="zh-TW" sz="2200" dirty="0"/>
              <a:t>first-, second-, and fourth-order ordinary differential equations, respectively.</a:t>
            </a:r>
            <a:endParaRPr lang="zh-TW" altLang="en-US" sz="2200" dirty="0"/>
          </a:p>
        </p:txBody>
      </p:sp>
      <p:sp>
        <p:nvSpPr>
          <p:cNvPr id="18436" name="矩形 1"/>
          <p:cNvSpPr>
            <a:spLocks noChangeArrowheads="1"/>
          </p:cNvSpPr>
          <p:nvPr/>
        </p:nvSpPr>
        <p:spPr bwMode="auto">
          <a:xfrm>
            <a:off x="900113" y="519113"/>
            <a:ext cx="22445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400" b="1" dirty="0">
                <a:solidFill>
                  <a:srgbClr val="3333FF"/>
                </a:solidFill>
              </a:rPr>
              <a:t>[Example 1.1.2]</a:t>
            </a:r>
            <a:endParaRPr lang="en-US" altLang="zh-TW" sz="2400" b="1" dirty="0"/>
          </a:p>
        </p:txBody>
      </p:sp>
      <p:graphicFrame>
        <p:nvGraphicFramePr>
          <p:cNvPr id="18437" name="物件 7"/>
          <p:cNvGraphicFramePr>
            <a:graphicFrameLocks noChangeAspect="1"/>
          </p:cNvGraphicFramePr>
          <p:nvPr/>
        </p:nvGraphicFramePr>
        <p:xfrm>
          <a:off x="966788" y="1604963"/>
          <a:ext cx="6751637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2" name="Equation" r:id="rId3" imgW="3695700" imgH="419100" progId="Equation.DSMT4">
                  <p:embed/>
                </p:oleObj>
              </mc:Choice>
              <mc:Fallback>
                <p:oleObj name="Equation" r:id="rId3" imgW="3695700" imgH="419100" progId="Equation.DSMT4">
                  <p:embed/>
                  <p:pic>
                    <p:nvPicPr>
                      <p:cNvPr id="18437" name="物件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1604963"/>
                        <a:ext cx="6751637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文字方塊 1"/>
          <p:cNvSpPr txBox="1">
            <a:spLocks noChangeArrowheads="1"/>
          </p:cNvSpPr>
          <p:nvPr/>
        </p:nvSpPr>
        <p:spPr bwMode="auto">
          <a:xfrm>
            <a:off x="904875" y="4397375"/>
            <a:ext cx="22320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solidFill>
                  <a:srgbClr val="3333FF"/>
                </a:solidFill>
                <a:ea typeface="標楷體" panose="03000509000000000000" pitchFamily="65" charset="-120"/>
              </a:rPr>
              <a:t>nonlinear term: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solidFill>
                  <a:srgbClr val="3333FF"/>
                </a:solidFill>
                <a:ea typeface="標楷體" panose="03000509000000000000" pitchFamily="65" charset="-120"/>
              </a:rPr>
              <a:t>coefficient depends on </a:t>
            </a:r>
            <a:r>
              <a:rPr lang="en-US" altLang="zh-TW" sz="1400" i="1">
                <a:solidFill>
                  <a:srgbClr val="3333FF"/>
                </a:solidFill>
                <a:ea typeface="標楷體" panose="03000509000000000000" pitchFamily="65" charset="-120"/>
              </a:rPr>
              <a:t>y</a:t>
            </a:r>
            <a:endParaRPr lang="zh-TW" altLang="en-US" sz="1400">
              <a:solidFill>
                <a:srgbClr val="3333FF"/>
              </a:solidFill>
              <a:ea typeface="標楷體" panose="03000509000000000000" pitchFamily="65" charset="-12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 flipH="1">
            <a:off x="1789113" y="4913313"/>
            <a:ext cx="1587" cy="268287"/>
          </a:xfrm>
          <a:prstGeom prst="straightConnector1">
            <a:avLst/>
          </a:prstGeom>
          <a:ln>
            <a:solidFill>
              <a:srgbClr val="33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440" name="物件 7"/>
          <p:cNvGraphicFramePr>
            <a:graphicFrameLocks noChangeAspect="1"/>
          </p:cNvGraphicFramePr>
          <p:nvPr/>
        </p:nvGraphicFramePr>
        <p:xfrm>
          <a:off x="1384300" y="4868863"/>
          <a:ext cx="5916613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3" name="Equation" r:id="rId5" imgW="3238500" imgH="419100" progId="Equation.DSMT4">
                  <p:embed/>
                </p:oleObj>
              </mc:Choice>
              <mc:Fallback>
                <p:oleObj name="Equation" r:id="rId5" imgW="3238500" imgH="419100" progId="Equation.DSMT4">
                  <p:embed/>
                  <p:pic>
                    <p:nvPicPr>
                      <p:cNvPr id="18440" name="物件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4868863"/>
                        <a:ext cx="5916613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文字方塊 18"/>
          <p:cNvSpPr txBox="1">
            <a:spLocks noChangeArrowheads="1"/>
          </p:cNvSpPr>
          <p:nvPr/>
        </p:nvSpPr>
        <p:spPr bwMode="auto">
          <a:xfrm>
            <a:off x="3541713" y="4391025"/>
            <a:ext cx="22320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solidFill>
                  <a:srgbClr val="3333FF"/>
                </a:solidFill>
                <a:ea typeface="標楷體" panose="03000509000000000000" pitchFamily="65" charset="-120"/>
              </a:rPr>
              <a:t>nonlinear term: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solidFill>
                  <a:srgbClr val="3333FF"/>
                </a:solidFill>
                <a:ea typeface="標楷體" panose="03000509000000000000" pitchFamily="65" charset="-120"/>
              </a:rPr>
              <a:t>nonlinear function of </a:t>
            </a:r>
            <a:r>
              <a:rPr lang="en-US" altLang="zh-TW" sz="1400" i="1">
                <a:solidFill>
                  <a:srgbClr val="3333FF"/>
                </a:solidFill>
                <a:ea typeface="標楷體" panose="03000509000000000000" pitchFamily="65" charset="-120"/>
              </a:rPr>
              <a:t>y</a:t>
            </a:r>
            <a:endParaRPr lang="zh-TW" altLang="en-US" sz="1400">
              <a:solidFill>
                <a:srgbClr val="3333FF"/>
              </a:solidFill>
              <a:ea typeface="標楷體" panose="03000509000000000000" pitchFamily="65" charset="-120"/>
            </a:endParaRPr>
          </a:p>
        </p:txBody>
      </p:sp>
      <p:cxnSp>
        <p:nvCxnSpPr>
          <p:cNvPr id="20" name="直線單箭頭接點 19"/>
          <p:cNvCxnSpPr/>
          <p:nvPr/>
        </p:nvCxnSpPr>
        <p:spPr>
          <a:xfrm flipH="1">
            <a:off x="4338638" y="4845050"/>
            <a:ext cx="1587" cy="268288"/>
          </a:xfrm>
          <a:prstGeom prst="straightConnector1">
            <a:avLst/>
          </a:prstGeom>
          <a:ln>
            <a:solidFill>
              <a:srgbClr val="33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3" name="文字方塊 20"/>
          <p:cNvSpPr txBox="1">
            <a:spLocks noChangeArrowheads="1"/>
          </p:cNvSpPr>
          <p:nvPr/>
        </p:nvSpPr>
        <p:spPr bwMode="auto">
          <a:xfrm>
            <a:off x="5940425" y="4357688"/>
            <a:ext cx="2232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solidFill>
                  <a:srgbClr val="3333FF"/>
                </a:solidFill>
                <a:ea typeface="標楷體" panose="03000509000000000000" pitchFamily="65" charset="-120"/>
              </a:rPr>
              <a:t>nonlinear term: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solidFill>
                  <a:srgbClr val="3333FF"/>
                </a:solidFill>
                <a:ea typeface="標楷體" panose="03000509000000000000" pitchFamily="65" charset="-120"/>
              </a:rPr>
              <a:t>power not 1</a:t>
            </a:r>
            <a:endParaRPr lang="zh-TW" altLang="en-US" sz="1400">
              <a:solidFill>
                <a:srgbClr val="3333FF"/>
              </a:solidFill>
              <a:ea typeface="標楷體" panose="03000509000000000000" pitchFamily="65" charset="-120"/>
            </a:endParaRPr>
          </a:p>
        </p:txBody>
      </p:sp>
      <p:cxnSp>
        <p:nvCxnSpPr>
          <p:cNvPr id="22" name="直線單箭頭接點 21"/>
          <p:cNvCxnSpPr/>
          <p:nvPr/>
        </p:nvCxnSpPr>
        <p:spPr>
          <a:xfrm flipH="1">
            <a:off x="6592888" y="4813300"/>
            <a:ext cx="1587" cy="266700"/>
          </a:xfrm>
          <a:prstGeom prst="straightConnector1">
            <a:avLst/>
          </a:prstGeom>
          <a:ln>
            <a:solidFill>
              <a:srgbClr val="33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5" name="矩形 2"/>
          <p:cNvSpPr>
            <a:spLocks noChangeArrowheads="1"/>
          </p:cNvSpPr>
          <p:nvPr/>
        </p:nvSpPr>
        <p:spPr bwMode="auto">
          <a:xfrm>
            <a:off x="3233738" y="548978"/>
            <a:ext cx="3359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2200" dirty="0"/>
              <a:t>Linear and Nonlinear ODEs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752913531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BEB11F-DD6A-499D-AAC8-ECC41F5EE7E8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755650" y="549275"/>
            <a:ext cx="7416800" cy="495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(8) Explicit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Solution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(text page 8)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  The solution is expressed as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=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  <a:sym typeface="Symbol" panose="05050102010706020507" pitchFamily="18" charset="2"/>
              </a:rPr>
              <a:t>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sym typeface="Symbol" panose="05050102010706020507" pitchFamily="18" charset="2"/>
              </a:rPr>
              <a:t>(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  <a:sym typeface="Symbol" panose="05050102010706020507" pitchFamily="18" charset="2"/>
              </a:rPr>
              <a:t>x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(9) Implicit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Solution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(text page 8)</a:t>
            </a:r>
            <a:endParaRPr lang="en-US" altLang="zh-TW" sz="22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Example:                     ,  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                                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Solution:                                   (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implicit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solution)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                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           or                                 (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explicit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solution)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</a:p>
        </p:txBody>
      </p:sp>
      <p:graphicFrame>
        <p:nvGraphicFramePr>
          <p:cNvPr id="15364" name="Object 5"/>
          <p:cNvGraphicFramePr>
            <a:graphicFrameLocks noChangeAspect="1"/>
          </p:cNvGraphicFramePr>
          <p:nvPr/>
        </p:nvGraphicFramePr>
        <p:xfrm>
          <a:off x="2235200" y="2433638"/>
          <a:ext cx="10414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9" name="Equation" r:id="rId3" imgW="1040948" imgH="710891" progId="Equation.DSMT4">
                  <p:embed/>
                </p:oleObj>
              </mc:Choice>
              <mc:Fallback>
                <p:oleObj name="Equation" r:id="rId3" imgW="1040948" imgH="71089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2433638"/>
                        <a:ext cx="10414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7"/>
          <p:cNvGraphicFramePr>
            <a:graphicFrameLocks noChangeAspect="1"/>
          </p:cNvGraphicFramePr>
          <p:nvPr/>
        </p:nvGraphicFramePr>
        <p:xfrm>
          <a:off x="2195513" y="3500438"/>
          <a:ext cx="14176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50" name="Equation" r:id="rId5" imgW="1422400" imgH="546100" progId="Equation.DSMT4">
                  <p:embed/>
                </p:oleObj>
              </mc:Choice>
              <mc:Fallback>
                <p:oleObj name="Equation" r:id="rId5" imgW="1422400" imgH="546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500438"/>
                        <a:ext cx="141763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9"/>
          <p:cNvGraphicFramePr>
            <a:graphicFrameLocks noChangeAspect="1"/>
          </p:cNvGraphicFramePr>
          <p:nvPr/>
        </p:nvGraphicFramePr>
        <p:xfrm>
          <a:off x="2293938" y="4389438"/>
          <a:ext cx="14938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51" name="Equation" r:id="rId7" imgW="1497950" imgH="406224" progId="Equation.DSMT4">
                  <p:embed/>
                </p:oleObj>
              </mc:Choice>
              <mc:Fallback>
                <p:oleObj name="Equation" r:id="rId7" imgW="1497950" imgH="406224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938" y="4389438"/>
                        <a:ext cx="14938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11"/>
          <p:cNvGraphicFramePr>
            <a:graphicFrameLocks noChangeAspect="1"/>
          </p:cNvGraphicFramePr>
          <p:nvPr/>
        </p:nvGraphicFramePr>
        <p:xfrm>
          <a:off x="2214563" y="4894263"/>
          <a:ext cx="16462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52" name="Equation" r:id="rId9" imgW="1651000" imgH="406400" progId="Equation.DSMT4">
                  <p:embed/>
                </p:oleObj>
              </mc:Choice>
              <mc:Fallback>
                <p:oleObj name="Equation" r:id="rId9" imgW="1651000" imgH="406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4894263"/>
                        <a:ext cx="16462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198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56200" y="4208463"/>
              <a:ext cx="1588" cy="1587"/>
            </p14:xfrm>
          </p:contentPart>
        </mc:Choice>
        <mc:Fallback xmlns="">
          <p:pic>
            <p:nvPicPr>
              <p:cNvPr id="8198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45084" y="4197354"/>
                <a:ext cx="23820" cy="2380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90E9D8-CFA5-4AE9-ACE6-F93C20662FDB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404813"/>
            <a:ext cx="8229600" cy="936625"/>
          </a:xfrm>
        </p:spPr>
        <p:txBody>
          <a:bodyPr/>
          <a:lstStyle/>
          <a:p>
            <a:pPr algn="l" eaLnBrk="1" hangingPunct="1"/>
            <a:r>
              <a:rPr lang="en-US" altLang="zh-TW" sz="3200" b="1">
                <a:solidFill>
                  <a:srgbClr val="3333FF"/>
                </a:solidFill>
                <a:latin typeface="Times New Roman" panose="02020603050405020304" pitchFamily="18" charset="0"/>
              </a:rPr>
              <a:t>1.2  Initial Value Problem  (IVP) </a:t>
            </a:r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468313" y="1412875"/>
            <a:ext cx="8280400" cy="476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A differentiation equation always has more than one solution.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20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for                ,        </a:t>
            </a:r>
          </a:p>
          <a:p>
            <a:pPr eaLnBrk="1" hangingPunct="1">
              <a:spcBef>
                <a:spcPct val="6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=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, 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=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+1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=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+2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  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… are all the solutions of the above differentiation equation.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General form of the solution: </a:t>
            </a:r>
            <a:r>
              <a:rPr lang="en-US" altLang="zh-TW" sz="2200" b="1" i="1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 b="1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= </a:t>
            </a:r>
            <a:r>
              <a:rPr lang="en-US" altLang="zh-TW" sz="2200" b="1" i="1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b="1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+ </a:t>
            </a:r>
            <a:r>
              <a:rPr lang="en-US" altLang="zh-TW" sz="2200" b="1" i="1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, where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c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is any constant.  </a:t>
            </a:r>
          </a:p>
          <a:p>
            <a:pPr eaLnBrk="1" hangingPunct="1">
              <a:buFontTx/>
              <a:buNone/>
            </a:pPr>
            <a:endParaRPr lang="en-US" altLang="zh-TW" sz="220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The </a:t>
            </a:r>
            <a:r>
              <a:rPr lang="en-US" altLang="zh-TW" sz="220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initial value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(</a:t>
            </a: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未必在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= 0) is helpful for obtain the unique solution.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                           and 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(0) = 2                        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=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+2 </a:t>
            </a:r>
          </a:p>
          <a:p>
            <a:pPr eaLnBrk="1" hangingPunct="1">
              <a:spcBef>
                <a:spcPct val="10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                           and 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(2) =3.5                      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=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+1.5           </a:t>
            </a:r>
          </a:p>
        </p:txBody>
      </p:sp>
      <p:graphicFrame>
        <p:nvGraphicFramePr>
          <p:cNvPr id="16389" name="Object 11"/>
          <p:cNvGraphicFramePr>
            <a:graphicFrameLocks noGrp="1" noChangeAspect="1"/>
          </p:cNvGraphicFramePr>
          <p:nvPr>
            <p:ph idx="1"/>
          </p:nvPr>
        </p:nvGraphicFramePr>
        <p:xfrm>
          <a:off x="1258888" y="1916113"/>
          <a:ext cx="6715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79" name="Equation" r:id="rId3" imgW="698197" imgH="672808" progId="Equation.DSMT4">
                  <p:embed/>
                </p:oleObj>
              </mc:Choice>
              <mc:Fallback>
                <p:oleObj name="Equation" r:id="rId3" imgW="698197" imgH="67280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916113"/>
                        <a:ext cx="6715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17"/>
          <p:cNvGraphicFramePr>
            <a:graphicFrameLocks noChangeAspect="1"/>
          </p:cNvGraphicFramePr>
          <p:nvPr/>
        </p:nvGraphicFramePr>
        <p:xfrm>
          <a:off x="1692275" y="4868863"/>
          <a:ext cx="698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80" name="Equation" r:id="rId5" imgW="698197" imgH="672808" progId="Equation.DSMT4">
                  <p:embed/>
                </p:oleObj>
              </mc:Choice>
              <mc:Fallback>
                <p:oleObj name="Equation" r:id="rId5" imgW="698197" imgH="672808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868863"/>
                        <a:ext cx="698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Line 23"/>
          <p:cNvSpPr>
            <a:spLocks noChangeShapeType="1"/>
          </p:cNvSpPr>
          <p:nvPr/>
        </p:nvSpPr>
        <p:spPr bwMode="auto">
          <a:xfrm>
            <a:off x="4211638" y="5300663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6392" name="Object 26"/>
          <p:cNvGraphicFramePr>
            <a:graphicFrameLocks noChangeAspect="1"/>
          </p:cNvGraphicFramePr>
          <p:nvPr/>
        </p:nvGraphicFramePr>
        <p:xfrm>
          <a:off x="1692275" y="5589588"/>
          <a:ext cx="698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81" name="Equation" r:id="rId7" imgW="698197" imgH="672808" progId="Equation.DSMT4">
                  <p:embed/>
                </p:oleObj>
              </mc:Choice>
              <mc:Fallback>
                <p:oleObj name="Equation" r:id="rId7" imgW="698197" imgH="672808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589588"/>
                        <a:ext cx="698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Line 28"/>
          <p:cNvSpPr>
            <a:spLocks noChangeShapeType="1"/>
          </p:cNvSpPr>
          <p:nvPr/>
        </p:nvSpPr>
        <p:spPr bwMode="auto">
          <a:xfrm>
            <a:off x="4211638" y="5949950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18B4A9-5831-4950-8694-BFF41F30293A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Text Box 6"/>
          <p:cNvSpPr txBox="1">
            <a:spLocks noChangeArrowheads="1"/>
          </p:cNvSpPr>
          <p:nvPr/>
        </p:nvSpPr>
        <p:spPr bwMode="auto">
          <a:xfrm>
            <a:off x="395288" y="692150"/>
            <a:ext cx="8353425" cy="533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The </a:t>
            </a:r>
            <a:r>
              <a:rPr lang="en-US" altLang="zh-TW" sz="2200" i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k</a:t>
            </a:r>
            <a:r>
              <a:rPr lang="en-US" altLang="zh-TW" sz="22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th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order linear differential equation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usually requires </a:t>
            </a:r>
            <a:r>
              <a:rPr lang="en-US" altLang="zh-TW" sz="2200" i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k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independent initial conditions (or </a:t>
            </a:r>
            <a:r>
              <a:rPr lang="en-US" altLang="zh-TW" sz="2200" i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k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independent boundary conditions) </a:t>
            </a:r>
            <a:r>
              <a:rPr lang="en-US" altLang="zh-TW" sz="2200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to obtain the unique solution.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                                    solution: 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=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baseline="30000" dirty="0"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/2 + </a:t>
            </a:r>
            <a:r>
              <a:rPr lang="en-US" altLang="zh-TW" sz="2200" i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bx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+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c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,   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                                                  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b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and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c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can be any constant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  y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(1) = 2  and 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(2) = 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  y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(0) = 1  and 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'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(0) =5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  y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(0) = 1  and 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'(3) 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For the 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k</a:t>
            </a:r>
            <a:r>
              <a:rPr lang="en-US" altLang="zh-TW" sz="2200" baseline="30000" dirty="0">
                <a:latin typeface="Times New Roman" panose="02020603050405020304" pitchFamily="18" charset="0"/>
                <a:ea typeface="標楷體" panose="03000509000000000000" pitchFamily="65" charset="-120"/>
              </a:rPr>
              <a:t>th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order differential equation, the initial conditions can be 0</a:t>
            </a:r>
            <a:r>
              <a:rPr lang="en-US" altLang="zh-TW" sz="2200" baseline="30000" dirty="0">
                <a:latin typeface="Times New Roman" panose="02020603050405020304" pitchFamily="18" charset="0"/>
                <a:ea typeface="標楷體" panose="03000509000000000000" pitchFamily="65" charset="-120"/>
              </a:rPr>
              <a:t>th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~ (</a:t>
            </a:r>
            <a:r>
              <a:rPr lang="en-US" altLang="zh-TW" sz="22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k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–1)</a:t>
            </a:r>
            <a:r>
              <a:rPr lang="en-US" altLang="zh-TW" sz="2200" baseline="30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th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derivatives at some points.</a:t>
            </a:r>
          </a:p>
        </p:txBody>
      </p:sp>
      <p:graphicFrame>
        <p:nvGraphicFramePr>
          <p:cNvPr id="17412" name="Object 7"/>
          <p:cNvGraphicFramePr>
            <a:graphicFrameLocks noChangeAspect="1"/>
          </p:cNvGraphicFramePr>
          <p:nvPr/>
        </p:nvGraphicFramePr>
        <p:xfrm>
          <a:off x="1587500" y="1741488"/>
          <a:ext cx="863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3" name="Equation" r:id="rId3" imgW="863225" imgH="710891" progId="Equation.DSMT4">
                  <p:embed/>
                </p:oleObj>
              </mc:Choice>
              <mc:Fallback>
                <p:oleObj name="Equation" r:id="rId3" imgW="863225" imgH="71089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1741488"/>
                        <a:ext cx="8636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9"/>
          <p:cNvSpPr txBox="1">
            <a:spLocks noChangeArrowheads="1"/>
          </p:cNvSpPr>
          <p:nvPr/>
        </p:nvSpPr>
        <p:spPr bwMode="auto">
          <a:xfrm>
            <a:off x="3591577" y="3199500"/>
            <a:ext cx="45370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boundary conditions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，在不同點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) 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(10)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7414" name="Text Box 10"/>
          <p:cNvSpPr txBox="1">
            <a:spLocks noChangeArrowheads="1"/>
          </p:cNvSpPr>
          <p:nvPr/>
        </p:nvSpPr>
        <p:spPr bwMode="auto">
          <a:xfrm>
            <a:off x="3591577" y="4168401"/>
            <a:ext cx="45370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boundary conditions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，在不同點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17415" name="Text Box 11"/>
          <p:cNvSpPr txBox="1">
            <a:spLocks noChangeArrowheads="1"/>
          </p:cNvSpPr>
          <p:nvPr/>
        </p:nvSpPr>
        <p:spPr bwMode="auto">
          <a:xfrm>
            <a:off x="3579812" y="3667232"/>
            <a:ext cx="45370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initial conditions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，在相同點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) 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(11)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243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931150" y="2670175"/>
              <a:ext cx="1588" cy="1588"/>
            </p14:xfrm>
          </p:contentPart>
        </mc:Choice>
        <mc:Fallback xmlns="">
          <p:pic>
            <p:nvPicPr>
              <p:cNvPr id="10243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20034" y="2659059"/>
                <a:ext cx="23820" cy="23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244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48350" y="5489575"/>
              <a:ext cx="3640138" cy="901700"/>
            </p14:xfrm>
          </p:contentPart>
        </mc:Choice>
        <mc:Fallback xmlns="">
          <p:pic>
            <p:nvPicPr>
              <p:cNvPr id="10244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45830" y="5487055"/>
                <a:ext cx="3645178" cy="90673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3525FC-1886-4BED-BDAD-1DDDFA69A00C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813"/>
            <a:ext cx="8229600" cy="1143000"/>
          </a:xfrm>
        </p:spPr>
        <p:txBody>
          <a:bodyPr/>
          <a:lstStyle/>
          <a:p>
            <a:pPr marL="720725" indent="-720725" algn="l" eaLnBrk="1" hangingPunct="1"/>
            <a:r>
              <a:rPr lang="en-US" altLang="zh-TW" sz="3200" b="1">
                <a:solidFill>
                  <a:srgbClr val="3333FF"/>
                </a:solidFill>
                <a:latin typeface="Times New Roman" panose="02020603050405020304" pitchFamily="18" charset="0"/>
              </a:rPr>
              <a:t>1.3  Differential Equations as Mathematical Model   </a:t>
            </a:r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539750" y="1773238"/>
            <a:ext cx="6840538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Physical meaning of 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differentiation: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u="sng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the variation at certain time or certain place </a:t>
            </a:r>
          </a:p>
        </p:txBody>
      </p:sp>
      <p:sp>
        <p:nvSpPr>
          <p:cNvPr id="18437" name="文字方塊 9"/>
          <p:cNvSpPr txBox="1">
            <a:spLocks noChangeArrowheads="1"/>
          </p:cNvSpPr>
          <p:nvPr/>
        </p:nvSpPr>
        <p:spPr bwMode="auto">
          <a:xfrm>
            <a:off x="611188" y="3068638"/>
            <a:ext cx="2232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 b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[Example 1]: </a:t>
            </a:r>
            <a:endParaRPr lang="zh-TW" altLang="en-US" sz="2200" b="1" dirty="0">
              <a:solidFill>
                <a:srgbClr val="3333FF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aphicFrame>
        <p:nvGraphicFramePr>
          <p:cNvPr id="18438" name="Object 4"/>
          <p:cNvGraphicFramePr>
            <a:graphicFrameLocks noChangeAspect="1"/>
          </p:cNvGraphicFramePr>
          <p:nvPr/>
        </p:nvGraphicFramePr>
        <p:xfrm>
          <a:off x="2700338" y="2997200"/>
          <a:ext cx="1500187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4" name="Equation" r:id="rId3" imgW="1485900" imgH="698500" progId="Equation.DSMT4">
                  <p:embed/>
                </p:oleObj>
              </mc:Choice>
              <mc:Fallback>
                <p:oleObj name="Equation" r:id="rId3" imgW="1485900" imgH="698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997200"/>
                        <a:ext cx="1500187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4"/>
          <p:cNvGraphicFramePr>
            <a:graphicFrameLocks noChangeAspect="1"/>
          </p:cNvGraphicFramePr>
          <p:nvPr/>
        </p:nvGraphicFramePr>
        <p:xfrm>
          <a:off x="4787900" y="2924175"/>
          <a:ext cx="248761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5" name="Equation" r:id="rId5" imgW="2463800" imgH="723900" progId="Equation.DSMT4">
                  <p:embed/>
                </p:oleObj>
              </mc:Choice>
              <mc:Fallback>
                <p:oleObj name="Equation" r:id="rId5" imgW="2463800" imgH="723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924175"/>
                        <a:ext cx="2487613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4"/>
          <p:cNvGraphicFramePr>
            <a:graphicFrameLocks noChangeAspect="1"/>
          </p:cNvGraphicFramePr>
          <p:nvPr/>
        </p:nvGraphicFramePr>
        <p:xfrm>
          <a:off x="1331913" y="4076700"/>
          <a:ext cx="1449387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6" name="Equation" r:id="rId7" imgW="1434477" imgH="317362" progId="Equation.DSMT4">
                  <p:embed/>
                </p:oleObj>
              </mc:Choice>
              <mc:Fallback>
                <p:oleObj name="Equation" r:id="rId7" imgW="1434477" imgH="31736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076700"/>
                        <a:ext cx="1449387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向右箭號 12"/>
          <p:cNvSpPr/>
          <p:nvPr/>
        </p:nvSpPr>
        <p:spPr>
          <a:xfrm>
            <a:off x="2987675" y="4149725"/>
            <a:ext cx="576263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/>
          </a:p>
        </p:txBody>
      </p:sp>
      <p:graphicFrame>
        <p:nvGraphicFramePr>
          <p:cNvPr id="18442" name="Object 4"/>
          <p:cNvGraphicFramePr>
            <a:graphicFrameLocks noChangeAspect="1"/>
          </p:cNvGraphicFramePr>
          <p:nvPr/>
        </p:nvGraphicFramePr>
        <p:xfrm>
          <a:off x="3851275" y="3933825"/>
          <a:ext cx="25654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27" name="Equation" r:id="rId9" imgW="2540000" imgH="685800" progId="Equation.DSMT4">
                  <p:embed/>
                </p:oleObj>
              </mc:Choice>
              <mc:Fallback>
                <p:oleObj name="Equation" r:id="rId9" imgW="25400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933825"/>
                        <a:ext cx="25654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文字方塊 14"/>
          <p:cNvSpPr txBox="1">
            <a:spLocks noChangeArrowheads="1"/>
          </p:cNvSpPr>
          <p:nvPr/>
        </p:nvSpPr>
        <p:spPr bwMode="auto">
          <a:xfrm>
            <a:off x="900113" y="4868863"/>
            <a:ext cx="6551612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t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): location,  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v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t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): velocity,   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t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):  acceleration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F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: force,     </a:t>
            </a:r>
            <a:r>
              <a:rPr lang="el-GR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β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: coefficient of friction,   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: mass  </a:t>
            </a:r>
            <a:endParaRPr lang="zh-TW" altLang="en-US" sz="220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DEFD2D-FCD2-44F3-B835-4B226980B56C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9459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619250" y="1196975"/>
          <a:ext cx="1601788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7" name="Equation" r:id="rId3" imgW="1587500" imgH="698500" progId="Equation.DSMT4">
                  <p:embed/>
                </p:oleObj>
              </mc:Choice>
              <mc:Fallback>
                <p:oleObj name="Equation" r:id="rId3" imgW="1587500" imgH="698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196975"/>
                        <a:ext cx="1601788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11"/>
          <p:cNvSpPr txBox="1">
            <a:spLocks noChangeArrowheads="1"/>
          </p:cNvSpPr>
          <p:nvPr/>
        </p:nvSpPr>
        <p:spPr bwMode="auto">
          <a:xfrm>
            <a:off x="3779838" y="1125538"/>
            <a:ext cx="338455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: population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人口增加量和人口呈正比</a:t>
            </a:r>
          </a:p>
        </p:txBody>
      </p:sp>
      <p:sp>
        <p:nvSpPr>
          <p:cNvPr id="19461" name="Text Box 25"/>
          <p:cNvSpPr txBox="1">
            <a:spLocks noChangeArrowheads="1"/>
          </p:cNvSpPr>
          <p:nvPr/>
        </p:nvSpPr>
        <p:spPr bwMode="auto">
          <a:xfrm>
            <a:off x="539750" y="549275"/>
            <a:ext cx="633571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b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[Example 2]: 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人口隨著時間而增加的模型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6D0ECF-FA22-45B0-8E62-4560FA89DF15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0483" name="Object 4"/>
          <p:cNvGraphicFramePr>
            <a:graphicFrameLocks noChangeAspect="1"/>
          </p:cNvGraphicFramePr>
          <p:nvPr/>
        </p:nvGraphicFramePr>
        <p:xfrm>
          <a:off x="1258888" y="1052513"/>
          <a:ext cx="172243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" name="Equation" r:id="rId3" imgW="1714500" imgH="673100" progId="Equation.DSMT4">
                  <p:embed/>
                </p:oleObj>
              </mc:Choice>
              <mc:Fallback>
                <p:oleObj name="Equation" r:id="rId3" imgW="17145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052513"/>
                        <a:ext cx="1722437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5"/>
          <p:cNvSpPr txBox="1">
            <a:spLocks noChangeArrowheads="1"/>
          </p:cNvSpPr>
          <p:nvPr/>
        </p:nvSpPr>
        <p:spPr bwMode="auto">
          <a:xfrm>
            <a:off x="3492500" y="1052513"/>
            <a:ext cx="2519363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T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: </a:t>
            </a: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熱開水溫度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T</a:t>
            </a:r>
            <a:r>
              <a:rPr lang="en-US" altLang="zh-TW" sz="2200" i="1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: </a:t>
            </a: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環境溫度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t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: </a:t>
            </a: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時間</a:t>
            </a:r>
          </a:p>
        </p:txBody>
      </p:sp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323850" y="476250"/>
            <a:ext cx="71278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b="1" dirty="0">
                <a:solidFill>
                  <a:srgbClr val="3333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[Example 3]: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開水溫度隨著時間會變冷的模型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315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03838" y="3098800"/>
              <a:ext cx="1587" cy="1588"/>
            </p14:xfrm>
          </p:contentPart>
        </mc:Choice>
        <mc:Fallback xmlns="">
          <p:pic>
            <p:nvPicPr>
              <p:cNvPr id="13315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92729" y="3087684"/>
                <a:ext cx="23805" cy="238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F90042-CD2F-46D9-9D19-3A5704107889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539750" y="476250"/>
            <a:ext cx="51117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大一微積分所學的：</a:t>
            </a:r>
          </a:p>
        </p:txBody>
      </p:sp>
      <p:graphicFrame>
        <p:nvGraphicFramePr>
          <p:cNvPr id="21508" name="Object 5"/>
          <p:cNvGraphicFramePr>
            <a:graphicFrameLocks noChangeAspect="1"/>
          </p:cNvGraphicFramePr>
          <p:nvPr/>
        </p:nvGraphicFramePr>
        <p:xfrm>
          <a:off x="1258888" y="1125538"/>
          <a:ext cx="98901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7" name="Equation" r:id="rId3" imgW="990170" imgH="469696" progId="Equation.DSMT4">
                  <p:embed/>
                </p:oleObj>
              </mc:Choice>
              <mc:Fallback>
                <p:oleObj name="Equation" r:id="rId3" imgW="990170" imgH="46969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125538"/>
                        <a:ext cx="989012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2627313" y="1125538"/>
            <a:ext cx="8651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的解</a:t>
            </a:r>
          </a:p>
        </p:txBody>
      </p:sp>
      <p:graphicFrame>
        <p:nvGraphicFramePr>
          <p:cNvPr id="215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373769"/>
              </p:ext>
            </p:extLst>
          </p:nvPr>
        </p:nvGraphicFramePr>
        <p:xfrm>
          <a:off x="2454201" y="2554818"/>
          <a:ext cx="1119188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8" name="Equation" r:id="rId5" imgW="1091726" imgH="698197" progId="Equation.DSMT4">
                  <p:embed/>
                </p:oleObj>
              </mc:Choice>
              <mc:Fallback>
                <p:oleObj name="Equation" r:id="rId5" imgW="1091726" imgH="69819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01" y="2554818"/>
                        <a:ext cx="1119188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Line 8"/>
          <p:cNvSpPr>
            <a:spLocks noChangeShapeType="1"/>
          </p:cNvSpPr>
          <p:nvPr/>
        </p:nvSpPr>
        <p:spPr bwMode="auto">
          <a:xfrm>
            <a:off x="4079801" y="2927880"/>
            <a:ext cx="812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15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075955"/>
              </p:ext>
            </p:extLst>
          </p:nvPr>
        </p:nvGraphicFramePr>
        <p:xfrm>
          <a:off x="5138664" y="2711980"/>
          <a:ext cx="166528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9" name="Equation" r:id="rId7" imgW="1625600" imgH="368300" progId="Equation.DSMT4">
                  <p:embed/>
                </p:oleObj>
              </mc:Choice>
              <mc:Fallback>
                <p:oleObj name="Equation" r:id="rId7" imgW="1625600" imgH="368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664" y="2711980"/>
                        <a:ext cx="166528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Text Box 10"/>
          <p:cNvSpPr txBox="1">
            <a:spLocks noChangeArrowheads="1"/>
          </p:cNvSpPr>
          <p:nvPr/>
        </p:nvSpPr>
        <p:spPr bwMode="auto">
          <a:xfrm>
            <a:off x="755576" y="4079081"/>
            <a:ext cx="16986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Problems</a:t>
            </a:r>
            <a:endParaRPr lang="zh-TW" altLang="en-US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1514" name="Text Box 11"/>
          <p:cNvSpPr txBox="1">
            <a:spLocks noChangeArrowheads="1"/>
          </p:cNvSpPr>
          <p:nvPr/>
        </p:nvSpPr>
        <p:spPr bwMode="auto">
          <a:xfrm>
            <a:off x="1014338" y="4583906"/>
            <a:ext cx="78962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(1) </a:t>
            </a:r>
            <a:r>
              <a:rPr lang="zh-TW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若等號兩邊都出現 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dependent variable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如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pages 19, 20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的例子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en-US" altLang="zh-TW" sz="2200" i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1515" name="Text Box 12"/>
          <p:cNvSpPr txBox="1">
            <a:spLocks noChangeArrowheads="1"/>
          </p:cNvSpPr>
          <p:nvPr/>
        </p:nvSpPr>
        <p:spPr bwMode="auto">
          <a:xfrm>
            <a:off x="1014338" y="5231606"/>
            <a:ext cx="626474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(2) </a:t>
            </a:r>
            <a:r>
              <a:rPr lang="zh-TW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若 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order of DE </a:t>
            </a:r>
            <a:r>
              <a:rPr lang="zh-TW" altLang="en-US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大於 </a:t>
            </a:r>
            <a:r>
              <a:rPr lang="en-US" altLang="zh-TW" sz="2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如 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page 18 </a:t>
            </a: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的例子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en-US" altLang="zh-TW" sz="2200" i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1517" name="Text Box 14"/>
          <p:cNvSpPr txBox="1">
            <a:spLocks noChangeArrowheads="1"/>
          </p:cNvSpPr>
          <p:nvPr/>
        </p:nvSpPr>
        <p:spPr bwMode="auto">
          <a:xfrm>
            <a:off x="3995738" y="1052513"/>
            <a:ext cx="18732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例如：</a:t>
            </a:r>
          </a:p>
        </p:txBody>
      </p:sp>
      <p:graphicFrame>
        <p:nvGraphicFramePr>
          <p:cNvPr id="21518" name="Object 15"/>
          <p:cNvGraphicFramePr>
            <a:graphicFrameLocks noChangeAspect="1"/>
          </p:cNvGraphicFramePr>
          <p:nvPr/>
        </p:nvGraphicFramePr>
        <p:xfrm>
          <a:off x="4932363" y="981075"/>
          <a:ext cx="1633537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0" name="Equation" r:id="rId9" imgW="1637589" imgH="672808" progId="Equation.DSMT4">
                  <p:embed/>
                </p:oleObj>
              </mc:Choice>
              <mc:Fallback>
                <p:oleObj name="Equation" r:id="rId9" imgW="1637589" imgH="67280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981075"/>
                        <a:ext cx="1633537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789294"/>
              </p:ext>
            </p:extLst>
          </p:nvPr>
        </p:nvGraphicFramePr>
        <p:xfrm>
          <a:off x="2454201" y="3353593"/>
          <a:ext cx="4579938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1" name="Equation" r:id="rId11" imgW="4584600" imgH="698400" progId="Equation.DSMT4">
                  <p:embed/>
                </p:oleObj>
              </mc:Choice>
              <mc:Fallback>
                <p:oleObj name="Equation" r:id="rId11" imgW="4584600" imgH="6984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01" y="3353593"/>
                        <a:ext cx="4579938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0" name="Text Box 10"/>
          <p:cNvSpPr txBox="1">
            <a:spLocks noChangeArrowheads="1"/>
          </p:cNvSpPr>
          <p:nvPr/>
        </p:nvSpPr>
        <p:spPr bwMode="auto">
          <a:xfrm>
            <a:off x="755576" y="5869350"/>
            <a:ext cx="357118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該如何解？</a:t>
            </a:r>
          </a:p>
        </p:txBody>
      </p:sp>
      <p:graphicFrame>
        <p:nvGraphicFramePr>
          <p:cNvPr id="2" name="物件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850883"/>
              </p:ext>
            </p:extLst>
          </p:nvPr>
        </p:nvGraphicFramePr>
        <p:xfrm>
          <a:off x="2454201" y="1752890"/>
          <a:ext cx="4013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2" name="Equation" r:id="rId13" imgW="4012920" imgH="698400" progId="Equation.DSMT4">
                  <p:embed/>
                </p:oleObj>
              </mc:Choice>
              <mc:Fallback>
                <p:oleObj name="Equation" r:id="rId13" imgW="401292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54201" y="1752890"/>
                        <a:ext cx="4013200" cy="698500"/>
                      </a:xfrm>
                      <a:prstGeom prst="rect">
                        <a:avLst/>
                      </a:prstGeom>
                      <a:ln>
                        <a:solidFill>
                          <a:srgbClr val="3333FF"/>
                        </a:solidFill>
                        <a:prstDash val="dash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928688" y="2672026"/>
            <a:ext cx="16986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Example:</a:t>
            </a:r>
            <a:endParaRPr lang="zh-TW" altLang="en-US" sz="2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077965-FF5C-4D42-8EA5-848BC449202A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827088" y="692150"/>
            <a:ext cx="7058025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Review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 dependent variable and in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dependent variable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DE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 PDE and ODE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 Order of DE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 linear DE and nonlinear DE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 explicit solution and implicit solution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 initial value;  boundary value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400" dirty="0">
                <a:latin typeface="Times New Roman" panose="02020603050405020304" pitchFamily="18" charset="0"/>
              </a:rPr>
              <a:t> IVP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D7FCF9-EBFC-4B1E-A683-5B15778DC2D7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8229600" cy="792163"/>
          </a:xfrm>
        </p:spPr>
        <p:txBody>
          <a:bodyPr/>
          <a:lstStyle/>
          <a:p>
            <a:pPr eaLnBrk="1" hangingPunct="1"/>
            <a:r>
              <a:rPr lang="en-US" altLang="zh-TW" sz="3200" b="1">
                <a:solidFill>
                  <a:srgbClr val="0000FF"/>
                </a:solidFill>
                <a:latin typeface="Times New Roman" panose="02020603050405020304" pitchFamily="18" charset="0"/>
              </a:rPr>
              <a:t>Chapter 2  First Order Differential Equation</a:t>
            </a: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468313" y="1341438"/>
            <a:ext cx="82296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b="1">
                <a:solidFill>
                  <a:srgbClr val="3333FF"/>
                </a:solidFill>
                <a:latin typeface="Times New Roman" panose="02020603050405020304" pitchFamily="18" charset="0"/>
              </a:rPr>
              <a:t>2-1  Solution Curves without a Solution </a:t>
            </a:r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468313" y="2276475"/>
            <a:ext cx="842486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Instead of using analytic methods, the DE can be </a:t>
            </a:r>
            <a:r>
              <a:rPr lang="en-US" altLang="zh-TW" sz="2200">
                <a:solidFill>
                  <a:srgbClr val="FF0000"/>
                </a:solidFill>
                <a:latin typeface="Times New Roman" panose="02020603050405020304" pitchFamily="18" charset="0"/>
              </a:rPr>
              <a:t>solved by graphs </a:t>
            </a:r>
            <a:r>
              <a:rPr lang="en-US" altLang="zh-TW" sz="2200">
                <a:latin typeface="Times New Roman" panose="02020603050405020304" pitchFamily="18" charset="0"/>
              </a:rPr>
              <a:t>(</a:t>
            </a: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圖解</a:t>
            </a:r>
            <a:r>
              <a:rPr lang="en-US" altLang="zh-TW" sz="22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4582" name="Text Box 5"/>
          <p:cNvSpPr txBox="1">
            <a:spLocks noChangeArrowheads="1"/>
          </p:cNvSpPr>
          <p:nvPr/>
        </p:nvSpPr>
        <p:spPr bwMode="auto">
          <a:xfrm>
            <a:off x="611188" y="3141663"/>
            <a:ext cx="820896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slopes and the field directions: </a:t>
            </a: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/>
        </p:nvGraphicFramePr>
        <p:xfrm>
          <a:off x="4211638" y="3068638"/>
          <a:ext cx="1333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9" name="Equation" r:id="rId3" imgW="1333500" imgH="609600" progId="Equation.DSMT4">
                  <p:embed/>
                </p:oleObj>
              </mc:Choice>
              <mc:Fallback>
                <p:oleObj name="Equation" r:id="rId3" imgW="1333500" imgH="609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068638"/>
                        <a:ext cx="13335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Line 8"/>
          <p:cNvSpPr>
            <a:spLocks noChangeShapeType="1"/>
          </p:cNvSpPr>
          <p:nvPr/>
        </p:nvSpPr>
        <p:spPr bwMode="auto">
          <a:xfrm>
            <a:off x="900113" y="5373688"/>
            <a:ext cx="3311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 flipV="1">
            <a:off x="2268538" y="3716338"/>
            <a:ext cx="0" cy="2520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4284663" y="5229225"/>
            <a:ext cx="10810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i="1">
                <a:latin typeface="Times New Roman" panose="02020603050405020304" pitchFamily="18" charset="0"/>
              </a:rPr>
              <a:t>x</a:t>
            </a:r>
            <a:r>
              <a:rPr lang="en-US" altLang="zh-TW" sz="2200">
                <a:latin typeface="Times New Roman" panose="02020603050405020304" pitchFamily="18" charset="0"/>
              </a:rPr>
              <a:t>-axis</a:t>
            </a:r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2268538" y="3573463"/>
            <a:ext cx="10810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i="1">
                <a:latin typeface="Times New Roman" panose="02020603050405020304" pitchFamily="18" charset="0"/>
              </a:rPr>
              <a:t>y</a:t>
            </a:r>
            <a:r>
              <a:rPr lang="en-US" altLang="zh-TW" sz="2200">
                <a:latin typeface="Times New Roman" panose="02020603050405020304" pitchFamily="18" charset="0"/>
              </a:rPr>
              <a:t>-axis</a:t>
            </a:r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 flipV="1">
            <a:off x="3059113" y="4076700"/>
            <a:ext cx="288925" cy="28892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2700338" y="4365625"/>
            <a:ext cx="1081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</a:rPr>
              <a:t>(</a:t>
            </a:r>
            <a:r>
              <a:rPr lang="en-US" altLang="zh-TW" sz="2000" i="1">
                <a:latin typeface="Times New Roman" panose="02020603050405020304" pitchFamily="18" charset="0"/>
              </a:rPr>
              <a:t>x</a:t>
            </a:r>
            <a:r>
              <a:rPr lang="en-US" altLang="zh-TW" sz="2000" baseline="-25000">
                <a:latin typeface="Times New Roman" panose="02020603050405020304" pitchFamily="18" charset="0"/>
              </a:rPr>
              <a:t>0</a:t>
            </a:r>
            <a:r>
              <a:rPr lang="en-US" altLang="zh-TW" sz="2000">
                <a:latin typeface="Times New Roman" panose="02020603050405020304" pitchFamily="18" charset="0"/>
              </a:rPr>
              <a:t>, y</a:t>
            </a:r>
            <a:r>
              <a:rPr lang="en-US" altLang="zh-TW" sz="2000" baseline="-25000">
                <a:latin typeface="Times New Roman" panose="02020603050405020304" pitchFamily="18" charset="0"/>
              </a:rPr>
              <a:t>0</a:t>
            </a:r>
            <a:r>
              <a:rPr lang="en-US" altLang="zh-TW" sz="20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3276600" y="4076700"/>
            <a:ext cx="273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solidFill>
                  <a:srgbClr val="0000FF"/>
                </a:solidFill>
                <a:latin typeface="Times New Roman" panose="02020603050405020304" pitchFamily="18" charset="0"/>
              </a:rPr>
              <a:t>the slope is </a:t>
            </a:r>
            <a:r>
              <a:rPr lang="en-US" altLang="zh-TW" sz="2200" i="1">
                <a:solidFill>
                  <a:srgbClr val="0000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TW" sz="220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sz="2200" i="1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TW" sz="22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TW" sz="2200">
                <a:solidFill>
                  <a:srgbClr val="0000FF"/>
                </a:solidFill>
                <a:latin typeface="Times New Roman" panose="02020603050405020304" pitchFamily="18" charset="0"/>
              </a:rPr>
              <a:t>, y</a:t>
            </a:r>
            <a:r>
              <a:rPr lang="en-US" altLang="zh-TW" sz="22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TW" sz="220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4591" name="Oval 15"/>
          <p:cNvSpPr>
            <a:spLocks noChangeArrowheads="1"/>
          </p:cNvSpPr>
          <p:nvPr/>
        </p:nvSpPr>
        <p:spPr bwMode="auto">
          <a:xfrm>
            <a:off x="2987675" y="42926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220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363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59263" y="1274763"/>
              <a:ext cx="2663825" cy="220662"/>
            </p14:xfrm>
          </p:contentPart>
        </mc:Choice>
        <mc:Fallback xmlns="">
          <p:pic>
            <p:nvPicPr>
              <p:cNvPr id="15363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56743" y="1262164"/>
                <a:ext cx="2673544" cy="2357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364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92975" y="1747838"/>
              <a:ext cx="1588" cy="1587"/>
            </p14:xfrm>
          </p:contentPart>
        </mc:Choice>
        <mc:Fallback xmlns="">
          <p:pic>
            <p:nvPicPr>
              <p:cNvPr id="15364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81859" y="1736729"/>
                <a:ext cx="23820" cy="2380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A600B0-570F-4428-B03F-3A6D4EC3149D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755650" y="509588"/>
            <a:ext cx="3816350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</a:rPr>
              <a:t>Example 1          </a:t>
            </a:r>
            <a:r>
              <a:rPr lang="en-US" altLang="zh-TW" sz="2200" i="1" dirty="0" err="1">
                <a:latin typeface="Times New Roman" panose="02020603050405020304" pitchFamily="18" charset="0"/>
              </a:rPr>
              <a:t>dy</a:t>
            </a:r>
            <a:r>
              <a:rPr lang="en-US" altLang="zh-TW" sz="2200" dirty="0">
                <a:latin typeface="Times New Roman" panose="02020603050405020304" pitchFamily="18" charset="0"/>
              </a:rPr>
              <a:t>/</a:t>
            </a:r>
            <a:r>
              <a:rPr lang="en-US" altLang="zh-TW" sz="2200" i="1" dirty="0">
                <a:latin typeface="Times New Roman" panose="02020603050405020304" pitchFamily="18" charset="0"/>
              </a:rPr>
              <a:t>dx</a:t>
            </a:r>
            <a:r>
              <a:rPr lang="en-US" altLang="zh-TW" sz="2200" dirty="0">
                <a:latin typeface="Times New Roman" panose="02020603050405020304" pitchFamily="18" charset="0"/>
              </a:rPr>
              <a:t> = 0.2</a:t>
            </a:r>
            <a:r>
              <a:rPr lang="en-US" altLang="zh-TW" sz="2200" i="1" dirty="0">
                <a:latin typeface="Times New Roman" panose="02020603050405020304" pitchFamily="18" charset="0"/>
              </a:rPr>
              <a:t>xy</a:t>
            </a:r>
            <a:endParaRPr lang="en-US" altLang="zh-TW" sz="2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</a:rPr>
              <a:t>     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684213" y="5589588"/>
            <a:ext cx="76327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From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Fig. 2-1-3(a) in “</a:t>
            </a:r>
            <a:r>
              <a:rPr lang="en-US" altLang="zh-TW" sz="2000" dirty="0">
                <a:latin typeface="Times New Roman" panose="02020603050405020304" pitchFamily="18" charset="0"/>
              </a:rPr>
              <a:t>Differential Equations-with Boundary-Value Problem”, 9</a:t>
            </a:r>
            <a:r>
              <a:rPr lang="en-US" altLang="zh-TW" sz="2000" baseline="30000" dirty="0">
                <a:latin typeface="Times New Roman" panose="02020603050405020304" pitchFamily="18" charset="0"/>
              </a:rPr>
              <a:t>th</a:t>
            </a:r>
            <a:r>
              <a:rPr lang="en-US" altLang="zh-TW" sz="2000" dirty="0">
                <a:latin typeface="Times New Roman" panose="02020603050405020304" pitchFamily="18" charset="0"/>
              </a:rPr>
              <a:t> ed., Dennis G. </a:t>
            </a:r>
            <a:r>
              <a:rPr lang="en-US" altLang="zh-TW" sz="2000" dirty="0" err="1">
                <a:latin typeface="Times New Roman" panose="02020603050405020304" pitchFamily="18" charset="0"/>
              </a:rPr>
              <a:t>Zill</a:t>
            </a:r>
            <a:r>
              <a:rPr lang="en-US" altLang="zh-TW" sz="2000" dirty="0">
                <a:latin typeface="Times New Roman" panose="02020603050405020304" pitchFamily="18" charset="0"/>
              </a:rPr>
              <a:t> and Michael R. Cullen.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 </a:t>
            </a:r>
          </a:p>
        </p:txBody>
      </p:sp>
      <p:pic>
        <p:nvPicPr>
          <p:cNvPr id="2560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052513"/>
            <a:ext cx="4646613" cy="440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16" descr="\\140.112.59.229\資源平台\資源平台\版權\版權ICON與範例\Creative Commens台灣2.5\icon_by-nc-sa.tiff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4905375"/>
            <a:ext cx="720725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388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33863" y="3648075"/>
              <a:ext cx="7937" cy="1588"/>
            </p14:xfrm>
          </p:contentPart>
        </mc:Choice>
        <mc:Fallback xmlns="">
          <p:pic>
            <p:nvPicPr>
              <p:cNvPr id="16388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25236" y="3639500"/>
                <a:ext cx="22086" cy="16833"/>
              </a:xfrm>
              <a:prstGeom prst="rect">
                <a:avLst/>
              </a:prstGeom>
            </p:spPr>
          </p:pic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77ED34F4-F48B-4E1F-B89B-78B887114859}"/>
              </a:ext>
            </a:extLst>
          </p:cNvPr>
          <p:cNvSpPr txBox="1"/>
          <p:nvPr/>
        </p:nvSpPr>
        <p:spPr>
          <a:xfrm>
            <a:off x="4612707" y="871485"/>
            <a:ext cx="5040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if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BB7BC7-19AA-4C25-8090-402219A86B78}"/>
              </a:ext>
            </a:extLst>
          </p:cNvPr>
          <p:cNvSpPr/>
          <p:nvPr/>
        </p:nvSpPr>
        <p:spPr>
          <a:xfrm>
            <a:off x="5006070" y="837537"/>
            <a:ext cx="108074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>
                <a:solidFill>
                  <a:srgbClr val="0000FF"/>
                </a:solidFill>
              </a:rPr>
              <a:t>y</a:t>
            </a:r>
            <a:r>
              <a:rPr lang="en-US" altLang="zh-TW" dirty="0">
                <a:solidFill>
                  <a:srgbClr val="0000FF"/>
                </a:solidFill>
              </a:rPr>
              <a:t>(0) = 2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15" name="手繪多邊形: 圖案 14">
            <a:extLst>
              <a:ext uri="{FF2B5EF4-FFF2-40B4-BE49-F238E27FC236}">
                <a16:creationId xmlns:a16="http://schemas.microsoft.com/office/drawing/2014/main" id="{CF2D9B26-570E-4610-9480-59523B000CB0}"/>
              </a:ext>
            </a:extLst>
          </p:cNvPr>
          <p:cNvSpPr/>
          <p:nvPr/>
        </p:nvSpPr>
        <p:spPr>
          <a:xfrm>
            <a:off x="4246880" y="1351280"/>
            <a:ext cx="1405240" cy="1232746"/>
          </a:xfrm>
          <a:custGeom>
            <a:avLst/>
            <a:gdLst>
              <a:gd name="connsiteX0" fmla="*/ 0 w 1463040"/>
              <a:gd name="connsiteY0" fmla="*/ 1229360 h 1232746"/>
              <a:gd name="connsiteX1" fmla="*/ 416560 w 1463040"/>
              <a:gd name="connsiteY1" fmla="*/ 1198880 h 1232746"/>
              <a:gd name="connsiteX2" fmla="*/ 863600 w 1463040"/>
              <a:gd name="connsiteY2" fmla="*/ 985520 h 1232746"/>
              <a:gd name="connsiteX3" fmla="*/ 1137920 w 1463040"/>
              <a:gd name="connsiteY3" fmla="*/ 670560 h 1232746"/>
              <a:gd name="connsiteX4" fmla="*/ 1320800 w 1463040"/>
              <a:gd name="connsiteY4" fmla="*/ 345440 h 1232746"/>
              <a:gd name="connsiteX5" fmla="*/ 1463040 w 1463040"/>
              <a:gd name="connsiteY5" fmla="*/ 0 h 1232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3040" h="1232746">
                <a:moveTo>
                  <a:pt x="0" y="1229360"/>
                </a:moveTo>
                <a:cubicBezTo>
                  <a:pt x="136313" y="1234440"/>
                  <a:pt x="272627" y="1239520"/>
                  <a:pt x="416560" y="1198880"/>
                </a:cubicBezTo>
                <a:cubicBezTo>
                  <a:pt x="560493" y="1158240"/>
                  <a:pt x="743373" y="1073573"/>
                  <a:pt x="863600" y="985520"/>
                </a:cubicBezTo>
                <a:cubicBezTo>
                  <a:pt x="983827" y="897467"/>
                  <a:pt x="1061720" y="777240"/>
                  <a:pt x="1137920" y="670560"/>
                </a:cubicBezTo>
                <a:cubicBezTo>
                  <a:pt x="1214120" y="563880"/>
                  <a:pt x="1266613" y="457200"/>
                  <a:pt x="1320800" y="345440"/>
                </a:cubicBezTo>
                <a:cubicBezTo>
                  <a:pt x="1374987" y="233680"/>
                  <a:pt x="1419013" y="116840"/>
                  <a:pt x="1463040" y="0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手繪多邊形: 圖案 25">
            <a:extLst>
              <a:ext uri="{FF2B5EF4-FFF2-40B4-BE49-F238E27FC236}">
                <a16:creationId xmlns:a16="http://schemas.microsoft.com/office/drawing/2014/main" id="{D2B0D9CD-E3EE-4A79-81E1-B6985495742A}"/>
              </a:ext>
            </a:extLst>
          </p:cNvPr>
          <p:cNvSpPr/>
          <p:nvPr/>
        </p:nvSpPr>
        <p:spPr>
          <a:xfrm flipH="1">
            <a:off x="2771800" y="1351280"/>
            <a:ext cx="1475080" cy="1232746"/>
          </a:xfrm>
          <a:custGeom>
            <a:avLst/>
            <a:gdLst>
              <a:gd name="connsiteX0" fmla="*/ 0 w 1463040"/>
              <a:gd name="connsiteY0" fmla="*/ 1229360 h 1232746"/>
              <a:gd name="connsiteX1" fmla="*/ 416560 w 1463040"/>
              <a:gd name="connsiteY1" fmla="*/ 1198880 h 1232746"/>
              <a:gd name="connsiteX2" fmla="*/ 863600 w 1463040"/>
              <a:gd name="connsiteY2" fmla="*/ 985520 h 1232746"/>
              <a:gd name="connsiteX3" fmla="*/ 1137920 w 1463040"/>
              <a:gd name="connsiteY3" fmla="*/ 670560 h 1232746"/>
              <a:gd name="connsiteX4" fmla="*/ 1320800 w 1463040"/>
              <a:gd name="connsiteY4" fmla="*/ 345440 h 1232746"/>
              <a:gd name="connsiteX5" fmla="*/ 1463040 w 1463040"/>
              <a:gd name="connsiteY5" fmla="*/ 0 h 1232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3040" h="1232746">
                <a:moveTo>
                  <a:pt x="0" y="1229360"/>
                </a:moveTo>
                <a:cubicBezTo>
                  <a:pt x="136313" y="1234440"/>
                  <a:pt x="272627" y="1239520"/>
                  <a:pt x="416560" y="1198880"/>
                </a:cubicBezTo>
                <a:cubicBezTo>
                  <a:pt x="560493" y="1158240"/>
                  <a:pt x="743373" y="1073573"/>
                  <a:pt x="863600" y="985520"/>
                </a:cubicBezTo>
                <a:cubicBezTo>
                  <a:pt x="983827" y="897467"/>
                  <a:pt x="1061720" y="777240"/>
                  <a:pt x="1137920" y="670560"/>
                </a:cubicBezTo>
                <a:cubicBezTo>
                  <a:pt x="1214120" y="563880"/>
                  <a:pt x="1266613" y="457200"/>
                  <a:pt x="1320800" y="345440"/>
                </a:cubicBezTo>
                <a:cubicBezTo>
                  <a:pt x="1374987" y="233680"/>
                  <a:pt x="1419013" y="116840"/>
                  <a:pt x="1463040" y="0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手繪多邊形: 圖案 26">
            <a:extLst>
              <a:ext uri="{FF2B5EF4-FFF2-40B4-BE49-F238E27FC236}">
                <a16:creationId xmlns:a16="http://schemas.microsoft.com/office/drawing/2014/main" id="{7BE87295-FC9E-4A0F-9F6F-8BC7885F9E06}"/>
              </a:ext>
            </a:extLst>
          </p:cNvPr>
          <p:cNvSpPr/>
          <p:nvPr/>
        </p:nvSpPr>
        <p:spPr>
          <a:xfrm flipV="1">
            <a:off x="4246879" y="3630611"/>
            <a:ext cx="1685335" cy="1522412"/>
          </a:xfrm>
          <a:custGeom>
            <a:avLst/>
            <a:gdLst>
              <a:gd name="connsiteX0" fmla="*/ 0 w 1463040"/>
              <a:gd name="connsiteY0" fmla="*/ 1229360 h 1232746"/>
              <a:gd name="connsiteX1" fmla="*/ 416560 w 1463040"/>
              <a:gd name="connsiteY1" fmla="*/ 1198880 h 1232746"/>
              <a:gd name="connsiteX2" fmla="*/ 863600 w 1463040"/>
              <a:gd name="connsiteY2" fmla="*/ 985520 h 1232746"/>
              <a:gd name="connsiteX3" fmla="*/ 1137920 w 1463040"/>
              <a:gd name="connsiteY3" fmla="*/ 670560 h 1232746"/>
              <a:gd name="connsiteX4" fmla="*/ 1320800 w 1463040"/>
              <a:gd name="connsiteY4" fmla="*/ 345440 h 1232746"/>
              <a:gd name="connsiteX5" fmla="*/ 1463040 w 1463040"/>
              <a:gd name="connsiteY5" fmla="*/ 0 h 1232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3040" h="1232746">
                <a:moveTo>
                  <a:pt x="0" y="1229360"/>
                </a:moveTo>
                <a:cubicBezTo>
                  <a:pt x="136313" y="1234440"/>
                  <a:pt x="272627" y="1239520"/>
                  <a:pt x="416560" y="1198880"/>
                </a:cubicBezTo>
                <a:cubicBezTo>
                  <a:pt x="560493" y="1158240"/>
                  <a:pt x="743373" y="1073573"/>
                  <a:pt x="863600" y="985520"/>
                </a:cubicBezTo>
                <a:cubicBezTo>
                  <a:pt x="983827" y="897467"/>
                  <a:pt x="1061720" y="777240"/>
                  <a:pt x="1137920" y="670560"/>
                </a:cubicBezTo>
                <a:cubicBezTo>
                  <a:pt x="1214120" y="563880"/>
                  <a:pt x="1266613" y="457200"/>
                  <a:pt x="1320800" y="345440"/>
                </a:cubicBezTo>
                <a:cubicBezTo>
                  <a:pt x="1374987" y="233680"/>
                  <a:pt x="1419013" y="116840"/>
                  <a:pt x="1463040" y="0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手繪多邊形: 圖案 27">
            <a:extLst>
              <a:ext uri="{FF2B5EF4-FFF2-40B4-BE49-F238E27FC236}">
                <a16:creationId xmlns:a16="http://schemas.microsoft.com/office/drawing/2014/main" id="{8835E2E7-2749-421B-A75B-BB1E57EE41F1}"/>
              </a:ext>
            </a:extLst>
          </p:cNvPr>
          <p:cNvSpPr/>
          <p:nvPr/>
        </p:nvSpPr>
        <p:spPr>
          <a:xfrm flipH="1" flipV="1">
            <a:off x="2571590" y="3627411"/>
            <a:ext cx="1685335" cy="1522412"/>
          </a:xfrm>
          <a:custGeom>
            <a:avLst/>
            <a:gdLst>
              <a:gd name="connsiteX0" fmla="*/ 0 w 1463040"/>
              <a:gd name="connsiteY0" fmla="*/ 1229360 h 1232746"/>
              <a:gd name="connsiteX1" fmla="*/ 416560 w 1463040"/>
              <a:gd name="connsiteY1" fmla="*/ 1198880 h 1232746"/>
              <a:gd name="connsiteX2" fmla="*/ 863600 w 1463040"/>
              <a:gd name="connsiteY2" fmla="*/ 985520 h 1232746"/>
              <a:gd name="connsiteX3" fmla="*/ 1137920 w 1463040"/>
              <a:gd name="connsiteY3" fmla="*/ 670560 h 1232746"/>
              <a:gd name="connsiteX4" fmla="*/ 1320800 w 1463040"/>
              <a:gd name="connsiteY4" fmla="*/ 345440 h 1232746"/>
              <a:gd name="connsiteX5" fmla="*/ 1463040 w 1463040"/>
              <a:gd name="connsiteY5" fmla="*/ 0 h 1232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3040" h="1232746">
                <a:moveTo>
                  <a:pt x="0" y="1229360"/>
                </a:moveTo>
                <a:cubicBezTo>
                  <a:pt x="136313" y="1234440"/>
                  <a:pt x="272627" y="1239520"/>
                  <a:pt x="416560" y="1198880"/>
                </a:cubicBezTo>
                <a:cubicBezTo>
                  <a:pt x="560493" y="1158240"/>
                  <a:pt x="743373" y="1073573"/>
                  <a:pt x="863600" y="985520"/>
                </a:cubicBezTo>
                <a:cubicBezTo>
                  <a:pt x="983827" y="897467"/>
                  <a:pt x="1061720" y="777240"/>
                  <a:pt x="1137920" y="670560"/>
                </a:cubicBezTo>
                <a:cubicBezTo>
                  <a:pt x="1214120" y="563880"/>
                  <a:pt x="1266613" y="457200"/>
                  <a:pt x="1320800" y="345440"/>
                </a:cubicBezTo>
                <a:cubicBezTo>
                  <a:pt x="1374987" y="233680"/>
                  <a:pt x="1419013" y="116840"/>
                  <a:pt x="1463040" y="0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DCC16B0-A0C1-4C37-97D7-727D40F7E76E}"/>
              </a:ext>
            </a:extLst>
          </p:cNvPr>
          <p:cNvSpPr/>
          <p:nvPr/>
        </p:nvSpPr>
        <p:spPr>
          <a:xfrm>
            <a:off x="5546442" y="5242847"/>
            <a:ext cx="117532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>
                <a:solidFill>
                  <a:srgbClr val="FFC000"/>
                </a:solidFill>
              </a:rPr>
              <a:t>y</a:t>
            </a:r>
            <a:r>
              <a:rPr lang="en-US" altLang="zh-TW" dirty="0">
                <a:solidFill>
                  <a:srgbClr val="FFC000"/>
                </a:solidFill>
              </a:rPr>
              <a:t>(0) = -1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2AC1474-78E1-4C1A-9B6F-E7A3F2F40B9A}"/>
              </a:ext>
            </a:extLst>
          </p:cNvPr>
          <p:cNvSpPr txBox="1"/>
          <p:nvPr/>
        </p:nvSpPr>
        <p:spPr>
          <a:xfrm>
            <a:off x="5205864" y="5247930"/>
            <a:ext cx="5040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C000"/>
                </a:solidFill>
              </a:rPr>
              <a:t>if</a:t>
            </a:r>
            <a:endParaRPr lang="zh-TW" alt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5FA9A7-A815-4E8E-9787-C98F41F48DBA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468313" y="4868863"/>
            <a:ext cx="8207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From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Fig. 2-1-4 in “</a:t>
            </a:r>
            <a:r>
              <a:rPr lang="en-US" altLang="zh-TW" sz="2000" dirty="0">
                <a:latin typeface="Times New Roman" panose="02020603050405020304" pitchFamily="18" charset="0"/>
              </a:rPr>
              <a:t>Differential Equations-with Boundary-Value Problem”, 9</a:t>
            </a:r>
            <a:r>
              <a:rPr lang="en-US" altLang="zh-TW" sz="2000" baseline="30000" dirty="0">
                <a:latin typeface="Times New Roman" panose="02020603050405020304" pitchFamily="18" charset="0"/>
              </a:rPr>
              <a:t>th</a:t>
            </a:r>
            <a:r>
              <a:rPr lang="en-US" altLang="zh-TW" sz="2000" dirty="0">
                <a:latin typeface="Times New Roman" panose="02020603050405020304" pitchFamily="18" charset="0"/>
              </a:rPr>
              <a:t> ed., Dennis G. </a:t>
            </a:r>
            <a:r>
              <a:rPr lang="en-US" altLang="zh-TW" sz="2000" dirty="0" err="1">
                <a:latin typeface="Times New Roman" panose="02020603050405020304" pitchFamily="18" charset="0"/>
              </a:rPr>
              <a:t>Zill</a:t>
            </a:r>
            <a:r>
              <a:rPr lang="en-US" altLang="zh-TW" sz="2000" dirty="0">
                <a:latin typeface="Times New Roman" panose="02020603050405020304" pitchFamily="18" charset="0"/>
              </a:rPr>
              <a:t> and Michael R. Cullen.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 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755650" y="476250"/>
            <a:ext cx="7632700" cy="596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Example 2          </a:t>
            </a:r>
            <a:r>
              <a:rPr lang="en-US" altLang="zh-TW" sz="2200" i="1">
                <a:latin typeface="Times New Roman" panose="02020603050405020304" pitchFamily="18" charset="0"/>
              </a:rPr>
              <a:t>dy</a:t>
            </a:r>
            <a:r>
              <a:rPr lang="en-US" altLang="zh-TW" sz="2200">
                <a:latin typeface="Times New Roman" panose="02020603050405020304" pitchFamily="18" charset="0"/>
              </a:rPr>
              <a:t>/</a:t>
            </a:r>
            <a:r>
              <a:rPr lang="en-US" altLang="zh-TW" sz="2200" i="1">
                <a:latin typeface="Times New Roman" panose="02020603050405020304" pitchFamily="18" charset="0"/>
              </a:rPr>
              <a:t>dx</a:t>
            </a:r>
            <a:r>
              <a:rPr lang="en-US" altLang="zh-TW" sz="2200">
                <a:latin typeface="Times New Roman" panose="02020603050405020304" pitchFamily="18" charset="0"/>
              </a:rPr>
              <a:t> = sin(</a:t>
            </a:r>
            <a:r>
              <a:rPr lang="en-US" altLang="zh-TW" sz="2200" i="1">
                <a:latin typeface="Times New Roman" panose="02020603050405020304" pitchFamily="18" charset="0"/>
              </a:rPr>
              <a:t>y</a:t>
            </a:r>
            <a:r>
              <a:rPr lang="en-US" altLang="zh-TW" sz="2200">
                <a:latin typeface="Times New Roman" panose="02020603050405020304" pitchFamily="18" charset="0"/>
              </a:rPr>
              <a:t>),     </a:t>
            </a:r>
            <a:r>
              <a:rPr lang="en-US" altLang="zh-TW" sz="2200" i="1">
                <a:latin typeface="Times New Roman" panose="02020603050405020304" pitchFamily="18" charset="0"/>
              </a:rPr>
              <a:t>y</a:t>
            </a:r>
            <a:r>
              <a:rPr lang="en-US" altLang="zh-TW" sz="2200">
                <a:latin typeface="Times New Roman" panose="02020603050405020304" pitchFamily="18" charset="0"/>
              </a:rPr>
              <a:t>(0) = –3/2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 i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With initial conditions, one curve can be obtained </a:t>
            </a:r>
          </a:p>
        </p:txBody>
      </p:sp>
      <p:pic>
        <p:nvPicPr>
          <p:cNvPr id="2765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0" y="981075"/>
            <a:ext cx="4225925" cy="388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16" descr="\\140.112.59.229\資源平台\資源平台\版權\版權ICON與範例\Creative Commens台灣2.5\icon_by-nc-sa.tiff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4400550"/>
            <a:ext cx="720725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56AD02-300D-4222-A637-03B6079D9BE9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699" name="Text Box 2"/>
          <p:cNvSpPr txBox="1">
            <a:spLocks noChangeArrowheads="1"/>
          </p:cNvSpPr>
          <p:nvPr/>
        </p:nvSpPr>
        <p:spPr bwMode="auto">
          <a:xfrm>
            <a:off x="755650" y="620713"/>
            <a:ext cx="7848600" cy="327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solidFill>
                  <a:srgbClr val="0000FF"/>
                </a:solidFill>
                <a:latin typeface="Times New Roman" panose="02020603050405020304" pitchFamily="18" charset="0"/>
              </a:rPr>
              <a:t>Advantage: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It can solve some 1</a:t>
            </a:r>
            <a:r>
              <a:rPr lang="en-US" altLang="zh-TW" sz="2200" baseline="30000">
                <a:latin typeface="Times New Roman" panose="02020603050405020304" pitchFamily="18" charset="0"/>
              </a:rPr>
              <a:t>st</a:t>
            </a:r>
            <a:r>
              <a:rPr lang="en-US" altLang="zh-TW" sz="2200">
                <a:latin typeface="Times New Roman" panose="02020603050405020304" pitchFamily="18" charset="0"/>
              </a:rPr>
              <a:t> order DEs that cannot be solved by mathematics.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solidFill>
                  <a:srgbClr val="0000FF"/>
                </a:solidFill>
                <a:latin typeface="Times New Roman" panose="02020603050405020304" pitchFamily="18" charset="0"/>
              </a:rPr>
              <a:t>Disadvantage: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It can only be used for the case of the 1st order DE.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It requires a lot of time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編號版面配置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B408ED-6A2E-4474-969D-C7A0C9AAE7D2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sz="3200" b="1">
                <a:solidFill>
                  <a:srgbClr val="3333FF"/>
                </a:solidFill>
                <a:latin typeface="Times New Roman" panose="02020603050405020304" pitchFamily="18" charset="0"/>
              </a:rPr>
              <a:t>Section 2-6  A Numerical Method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18488" cy="2836863"/>
          </a:xfrm>
        </p:spPr>
        <p:txBody>
          <a:bodyPr/>
          <a:lstStyle/>
          <a:p>
            <a:pPr eaLnBrk="1" hangingPunct="1"/>
            <a:r>
              <a:rPr lang="en-US" altLang="zh-TW" sz="2000">
                <a:latin typeface="Times New Roman" panose="02020603050405020304" pitchFamily="18" charset="0"/>
              </a:rPr>
              <a:t>Another way to solve the DE without analytic methods </a:t>
            </a:r>
          </a:p>
          <a:p>
            <a:pPr eaLnBrk="1" hangingPunct="1"/>
            <a:endParaRPr lang="en-US" altLang="zh-TW" sz="2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TW" sz="2000">
                <a:latin typeface="Times New Roman" panose="02020603050405020304" pitchFamily="18" charset="0"/>
              </a:rPr>
              <a:t>independent variable</a:t>
            </a:r>
            <a:r>
              <a:rPr lang="en-US" altLang="zh-TW" sz="2000" i="1">
                <a:latin typeface="Times New Roman" panose="02020603050405020304" pitchFamily="18" charset="0"/>
              </a:rPr>
              <a:t> x                                     x</a:t>
            </a:r>
            <a:r>
              <a:rPr lang="en-US" altLang="zh-TW" sz="2000" baseline="-25000">
                <a:latin typeface="Times New Roman" panose="02020603050405020304" pitchFamily="18" charset="0"/>
              </a:rPr>
              <a:t>0</a:t>
            </a:r>
            <a:r>
              <a:rPr lang="en-US" altLang="zh-TW" sz="2000">
                <a:latin typeface="Times New Roman" panose="02020603050405020304" pitchFamily="18" charset="0"/>
              </a:rPr>
              <a:t>, </a:t>
            </a:r>
            <a:r>
              <a:rPr lang="en-US" altLang="zh-TW" sz="2000" i="1">
                <a:latin typeface="Times New Roman" panose="02020603050405020304" pitchFamily="18" charset="0"/>
              </a:rPr>
              <a:t> x</a:t>
            </a:r>
            <a:r>
              <a:rPr lang="en-US" altLang="zh-TW" sz="2000" baseline="-25000">
                <a:latin typeface="Times New Roman" panose="02020603050405020304" pitchFamily="18" charset="0"/>
              </a:rPr>
              <a:t>1</a:t>
            </a:r>
            <a:r>
              <a:rPr lang="en-US" altLang="zh-TW" sz="2000">
                <a:latin typeface="Times New Roman" panose="02020603050405020304" pitchFamily="18" charset="0"/>
              </a:rPr>
              <a:t>,</a:t>
            </a:r>
            <a:r>
              <a:rPr lang="en-US" altLang="zh-TW" sz="2000" i="1">
                <a:latin typeface="Times New Roman" panose="02020603050405020304" pitchFamily="18" charset="0"/>
              </a:rPr>
              <a:t> x</a:t>
            </a:r>
            <a:r>
              <a:rPr lang="en-US" altLang="zh-TW" sz="2000" baseline="-25000">
                <a:latin typeface="Times New Roman" panose="02020603050405020304" pitchFamily="18" charset="0"/>
              </a:rPr>
              <a:t>2</a:t>
            </a:r>
            <a:r>
              <a:rPr lang="en-US" altLang="zh-TW" sz="2000">
                <a:latin typeface="Times New Roman" panose="02020603050405020304" pitchFamily="18" charset="0"/>
              </a:rPr>
              <a:t>,</a:t>
            </a:r>
            <a:r>
              <a:rPr lang="en-US" altLang="zh-TW" sz="2000" i="1">
                <a:latin typeface="Times New Roman" panose="02020603050405020304" pitchFamily="18" charset="0"/>
              </a:rPr>
              <a:t> ………… </a:t>
            </a:r>
          </a:p>
          <a:p>
            <a:pPr eaLnBrk="1" hangingPunct="1">
              <a:buFontTx/>
              <a:buNone/>
            </a:pPr>
            <a:r>
              <a:rPr lang="en-US" altLang="zh-TW" sz="2000" i="1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TW" sz="2000">
                <a:latin typeface="Times New Roman" panose="02020603050405020304" pitchFamily="18" charset="0"/>
              </a:rPr>
              <a:t>Find the solution of </a:t>
            </a:r>
          </a:p>
          <a:p>
            <a:pPr eaLnBrk="1" hangingPunct="1"/>
            <a:endParaRPr lang="en-US" altLang="zh-TW" sz="200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</a:rPr>
              <a:t>Since                               approximation </a:t>
            </a:r>
          </a:p>
        </p:txBody>
      </p:sp>
      <p:graphicFrame>
        <p:nvGraphicFramePr>
          <p:cNvPr id="30725" name="Object 3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419475" y="2973388"/>
          <a:ext cx="171608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7" name="Equation" r:id="rId3" imgW="1803400" imgH="673100" progId="Equation.DSMT4">
                  <p:embed/>
                </p:oleObj>
              </mc:Choice>
              <mc:Fallback>
                <p:oleObj name="Equation" r:id="rId3" imgW="1803400" imgH="6731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973388"/>
                        <a:ext cx="1716088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Line 4"/>
          <p:cNvSpPr>
            <a:spLocks noChangeShapeType="1"/>
          </p:cNvSpPr>
          <p:nvPr/>
        </p:nvSpPr>
        <p:spPr bwMode="auto">
          <a:xfrm>
            <a:off x="3276600" y="2565400"/>
            <a:ext cx="215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727" name="Text Box 27"/>
          <p:cNvSpPr txBox="1">
            <a:spLocks noChangeArrowheads="1"/>
          </p:cNvSpPr>
          <p:nvPr/>
        </p:nvSpPr>
        <p:spPr bwMode="auto">
          <a:xfrm>
            <a:off x="3348038" y="2133600"/>
            <a:ext cx="21605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sampling(</a:t>
            </a: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取樣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  <p:graphicFrame>
        <p:nvGraphicFramePr>
          <p:cNvPr id="30728" name="Object 3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331913" y="3789363"/>
          <a:ext cx="15938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8" name="Equation" r:id="rId5" imgW="1841500" imgH="698500" progId="Equation.DSMT4">
                  <p:embed/>
                </p:oleObj>
              </mc:Choice>
              <mc:Fallback>
                <p:oleObj name="Equation" r:id="rId5" imgW="1841500" imgH="6985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789363"/>
                        <a:ext cx="159385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Line 37"/>
          <p:cNvSpPr>
            <a:spLocks noChangeShapeType="1"/>
          </p:cNvSpPr>
          <p:nvPr/>
        </p:nvSpPr>
        <p:spPr bwMode="auto">
          <a:xfrm>
            <a:off x="3059113" y="4221163"/>
            <a:ext cx="1871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30730" name="Object 38"/>
          <p:cNvGraphicFramePr>
            <a:graphicFrameLocks noChangeAspect="1"/>
          </p:cNvGraphicFramePr>
          <p:nvPr/>
        </p:nvGraphicFramePr>
        <p:xfrm>
          <a:off x="5002213" y="3789363"/>
          <a:ext cx="3141662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9" name="Equation" r:id="rId7" imgW="3149600" imgH="711200" progId="Equation.DSMT4">
                  <p:embed/>
                </p:oleObj>
              </mc:Choice>
              <mc:Fallback>
                <p:oleObj name="Equation" r:id="rId7" imgW="3149600" imgH="7112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213" y="3789363"/>
                        <a:ext cx="3141662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574774"/>
              </p:ext>
            </p:extLst>
          </p:nvPr>
        </p:nvGraphicFramePr>
        <p:xfrm>
          <a:off x="1116013" y="4868863"/>
          <a:ext cx="41576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0" name="Equation" r:id="rId9" imgW="4165560" imgH="355320" progId="Equation.DSMT4">
                  <p:embed/>
                </p:oleObj>
              </mc:Choice>
              <mc:Fallback>
                <p:oleObj name="Equation" r:id="rId9" imgW="4165560" imgH="35532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868863"/>
                        <a:ext cx="41576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Text Box 40"/>
          <p:cNvSpPr txBox="1">
            <a:spLocks noChangeArrowheads="1"/>
          </p:cNvSpPr>
          <p:nvPr/>
        </p:nvSpPr>
        <p:spPr bwMode="auto">
          <a:xfrm>
            <a:off x="1547813" y="5805488"/>
            <a:ext cx="16573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前一點的值</a:t>
            </a:r>
          </a:p>
        </p:txBody>
      </p:sp>
      <p:sp>
        <p:nvSpPr>
          <p:cNvPr id="30733" name="Line 41"/>
          <p:cNvSpPr>
            <a:spLocks noChangeShapeType="1"/>
          </p:cNvSpPr>
          <p:nvPr/>
        </p:nvSpPr>
        <p:spPr bwMode="auto">
          <a:xfrm flipV="1">
            <a:off x="2195513" y="5229225"/>
            <a:ext cx="2159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734" name="Line 42"/>
          <p:cNvSpPr>
            <a:spLocks noChangeShapeType="1"/>
          </p:cNvSpPr>
          <p:nvPr/>
        </p:nvSpPr>
        <p:spPr bwMode="auto">
          <a:xfrm flipH="1" flipV="1">
            <a:off x="4716463" y="5229225"/>
            <a:ext cx="2159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735" name="Line 43"/>
          <p:cNvSpPr>
            <a:spLocks noChangeShapeType="1"/>
          </p:cNvSpPr>
          <p:nvPr/>
        </p:nvSpPr>
        <p:spPr bwMode="auto">
          <a:xfrm>
            <a:off x="4284663" y="5229225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736" name="Text Box 44"/>
          <p:cNvSpPr txBox="1">
            <a:spLocks noChangeArrowheads="1"/>
          </p:cNvSpPr>
          <p:nvPr/>
        </p:nvSpPr>
        <p:spPr bwMode="auto">
          <a:xfrm>
            <a:off x="4211638" y="5876925"/>
            <a:ext cx="251936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取樣間格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1804E2-016D-4C4D-8765-C077345F820E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" name="Object 3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384728370"/>
              </p:ext>
            </p:extLst>
          </p:nvPr>
        </p:nvGraphicFramePr>
        <p:xfrm>
          <a:off x="683568" y="362744"/>
          <a:ext cx="15938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1" name="Equation" r:id="rId3" imgW="1841500" imgH="698500" progId="Equation.DSMT4">
                  <p:embed/>
                </p:oleObj>
              </mc:Choice>
              <mc:Fallback>
                <p:oleObj name="Equation" r:id="rId3" imgW="1841500" imgH="698500" progId="Equation.DSMT4">
                  <p:embed/>
                  <p:pic>
                    <p:nvPicPr>
                      <p:cNvPr id="3072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62744"/>
                        <a:ext cx="159385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207666"/>
              </p:ext>
            </p:extLst>
          </p:nvPr>
        </p:nvGraphicFramePr>
        <p:xfrm>
          <a:off x="3419872" y="487362"/>
          <a:ext cx="41576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2" name="Equation" r:id="rId5" imgW="4165560" imgH="355320" progId="Equation.DSMT4">
                  <p:embed/>
                </p:oleObj>
              </mc:Choice>
              <mc:Fallback>
                <p:oleObj name="Equation" r:id="rId5" imgW="4165560" imgH="355320" progId="Equation.DSMT4">
                  <p:embed/>
                  <p:pic>
                    <p:nvPicPr>
                      <p:cNvPr id="3073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487362"/>
                        <a:ext cx="41576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43505"/>
              </p:ext>
            </p:extLst>
          </p:nvPr>
        </p:nvGraphicFramePr>
        <p:xfrm>
          <a:off x="1293813" y="1825625"/>
          <a:ext cx="38020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3" name="Equation" r:id="rId7" imgW="3809880" imgH="355320" progId="Equation.DSMT4">
                  <p:embed/>
                </p:oleObj>
              </mc:Choice>
              <mc:Fallback>
                <p:oleObj name="Equation" r:id="rId7" imgW="3809880" imgH="355320" progId="Equation.DSMT4">
                  <p:embed/>
                  <p:pic>
                    <p:nvPicPr>
                      <p:cNvPr id="1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3" y="1825625"/>
                        <a:ext cx="38020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39552" y="1287360"/>
                <a:ext cx="3156695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If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known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287360"/>
                <a:ext cx="3156695" cy="430887"/>
              </a:xfrm>
              <a:prstGeom prst="rect">
                <a:avLst/>
              </a:prstGeom>
              <a:blipFill>
                <a:blip r:embed="rId9"/>
                <a:stretch>
                  <a:fillRect l="-387" t="-9859" b="-281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68446"/>
              </p:ext>
            </p:extLst>
          </p:nvPr>
        </p:nvGraphicFramePr>
        <p:xfrm>
          <a:off x="1319213" y="2352675"/>
          <a:ext cx="37512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4" name="Equation" r:id="rId10" imgW="3759120" imgH="355320" progId="Equation.DSMT4">
                  <p:embed/>
                </p:oleObj>
              </mc:Choice>
              <mc:Fallback>
                <p:oleObj name="Equation" r:id="rId10" imgW="3759120" imgH="355320" progId="Equation.DSMT4">
                  <p:embed/>
                  <p:pic>
                    <p:nvPicPr>
                      <p:cNvPr id="1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2352675"/>
                        <a:ext cx="37512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203909"/>
              </p:ext>
            </p:extLst>
          </p:nvPr>
        </p:nvGraphicFramePr>
        <p:xfrm>
          <a:off x="1304406" y="2879725"/>
          <a:ext cx="38401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5" name="Equation" r:id="rId12" imgW="3848040" imgH="355320" progId="Equation.DSMT4">
                  <p:embed/>
                </p:oleObj>
              </mc:Choice>
              <mc:Fallback>
                <p:oleObj name="Equation" r:id="rId12" imgW="3848040" imgH="355320" progId="Equation.DSMT4">
                  <p:embed/>
                  <p:pic>
                    <p:nvPicPr>
                      <p:cNvPr id="13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406" y="2879725"/>
                        <a:ext cx="38401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782919" y="3352186"/>
            <a:ext cx="263214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:</a:t>
            </a:r>
            <a:br>
              <a:rPr lang="en-US" altLang="zh-TW" dirty="0"/>
            </a:br>
            <a:r>
              <a:rPr lang="en-US" altLang="zh-TW" dirty="0"/>
              <a:t>:</a:t>
            </a:r>
            <a:br>
              <a:rPr lang="en-US" altLang="zh-TW" dirty="0"/>
            </a:br>
            <a:r>
              <a:rPr lang="en-US" altLang="zh-TW" dirty="0"/>
              <a:t>:</a:t>
            </a:r>
            <a:br>
              <a:rPr lang="en-US" altLang="zh-TW" dirty="0"/>
            </a:br>
            <a:r>
              <a:rPr lang="en-US" altLang="zh-TW" dirty="0"/>
              <a:t>:</a:t>
            </a:r>
            <a:endParaRPr lang="zh-TW" altLang="en-US" dirty="0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DBBD801B-9F7E-461E-9262-8D962BED307D}"/>
              </a:ext>
            </a:extLst>
          </p:cNvPr>
          <p:cNvCxnSpPr>
            <a:cxnSpLocks/>
          </p:cNvCxnSpPr>
          <p:nvPr/>
        </p:nvCxnSpPr>
        <p:spPr>
          <a:xfrm>
            <a:off x="1710191" y="2176540"/>
            <a:ext cx="485545" cy="26821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7A98980-CFBA-4912-82C2-34F0EBBD2459}"/>
              </a:ext>
            </a:extLst>
          </p:cNvPr>
          <p:cNvCxnSpPr>
            <a:cxnSpLocks/>
          </p:cNvCxnSpPr>
          <p:nvPr/>
        </p:nvCxnSpPr>
        <p:spPr>
          <a:xfrm>
            <a:off x="1691680" y="2658371"/>
            <a:ext cx="504056" cy="26657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65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1804E2-016D-4C4D-8765-C077345F820E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8183" y="1340768"/>
            <a:ext cx="8435975" cy="464185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TW" sz="2200" dirty="0">
                <a:latin typeface="Times New Roman" panose="02020603050405020304" pitchFamily="18" charset="0"/>
              </a:rPr>
              <a:t>Example: </a:t>
            </a:r>
          </a:p>
          <a:p>
            <a:pPr eaLnBrk="1" hangingPunct="1">
              <a:spcBef>
                <a:spcPts val="0"/>
              </a:spcBef>
            </a:pPr>
            <a:endParaRPr lang="en-US" altLang="zh-TW" sz="2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TW" sz="2200" i="1" dirty="0" err="1">
                <a:latin typeface="Times New Roman" panose="02020603050405020304" pitchFamily="18" charset="0"/>
              </a:rPr>
              <a:t>dy</a:t>
            </a:r>
            <a:r>
              <a:rPr lang="en-US" altLang="zh-TW" sz="2200" dirty="0">
                <a:latin typeface="Times New Roman" panose="02020603050405020304" pitchFamily="18" charset="0"/>
              </a:rPr>
              <a:t>(</a:t>
            </a:r>
            <a:r>
              <a:rPr lang="en-US" altLang="zh-TW" sz="2200" i="1" dirty="0">
                <a:latin typeface="Times New Roman" panose="02020603050405020304" pitchFamily="18" charset="0"/>
              </a:rPr>
              <a:t>x</a:t>
            </a:r>
            <a:r>
              <a:rPr lang="en-US" altLang="zh-TW" sz="2200" dirty="0">
                <a:latin typeface="Times New Roman" panose="02020603050405020304" pitchFamily="18" charset="0"/>
              </a:rPr>
              <a:t>)/</a:t>
            </a:r>
            <a:r>
              <a:rPr lang="en-US" altLang="zh-TW" sz="2200" i="1" dirty="0">
                <a:latin typeface="Times New Roman" panose="02020603050405020304" pitchFamily="18" charset="0"/>
              </a:rPr>
              <a:t>dx</a:t>
            </a:r>
            <a:r>
              <a:rPr lang="en-US" altLang="zh-TW" sz="2200" dirty="0">
                <a:latin typeface="Times New Roman" panose="02020603050405020304" pitchFamily="18" charset="0"/>
              </a:rPr>
              <a:t> = 0.2</a:t>
            </a:r>
            <a:r>
              <a:rPr lang="en-US" altLang="zh-TW" sz="2200" i="1" dirty="0">
                <a:latin typeface="Times New Roman" panose="02020603050405020304" pitchFamily="18" charset="0"/>
              </a:rPr>
              <a:t>xy</a:t>
            </a:r>
            <a:r>
              <a:rPr lang="en-US" altLang="zh-TW" sz="2200" dirty="0">
                <a:latin typeface="Times New Roman" panose="02020603050405020304" pitchFamily="18" charset="0"/>
              </a:rPr>
              <a:t>                       </a:t>
            </a:r>
            <a:r>
              <a:rPr lang="en-US" altLang="zh-TW" sz="2200" i="1" dirty="0">
                <a:latin typeface="Times New Roman" panose="02020603050405020304" pitchFamily="18" charset="0"/>
              </a:rPr>
              <a:t>y</a:t>
            </a:r>
            <a:r>
              <a:rPr lang="en-US" altLang="zh-TW" sz="2200" dirty="0">
                <a:latin typeface="Times New Roman" panose="02020603050405020304" pitchFamily="18" charset="0"/>
              </a:rPr>
              <a:t>(</a:t>
            </a:r>
            <a:r>
              <a:rPr lang="en-US" altLang="zh-TW" sz="2200" i="1" dirty="0">
                <a:latin typeface="Times New Roman" panose="02020603050405020304" pitchFamily="18" charset="0"/>
              </a:rPr>
              <a:t>x</a:t>
            </a:r>
            <a:r>
              <a:rPr lang="en-US" altLang="zh-TW" sz="2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TW" sz="2200" baseline="-25000" dirty="0">
                <a:latin typeface="Times New Roman" panose="02020603050405020304" pitchFamily="18" charset="0"/>
              </a:rPr>
              <a:t>+1</a:t>
            </a:r>
            <a:r>
              <a:rPr lang="en-US" altLang="zh-TW" sz="2200" dirty="0">
                <a:latin typeface="Times New Roman" panose="02020603050405020304" pitchFamily="18" charset="0"/>
              </a:rPr>
              <a:t>) =  </a:t>
            </a:r>
            <a:r>
              <a:rPr lang="en-US" altLang="zh-TW" sz="2200" i="1" dirty="0">
                <a:latin typeface="Times New Roman" panose="02020603050405020304" pitchFamily="18" charset="0"/>
              </a:rPr>
              <a:t>y</a:t>
            </a:r>
            <a:r>
              <a:rPr lang="en-US" altLang="zh-TW" sz="2200" dirty="0">
                <a:latin typeface="Times New Roman" panose="02020603050405020304" pitchFamily="18" charset="0"/>
              </a:rPr>
              <a:t>(</a:t>
            </a:r>
            <a:r>
              <a:rPr lang="en-US" altLang="zh-TW" sz="2200" i="1" dirty="0" err="1">
                <a:latin typeface="Times New Roman" panose="02020603050405020304" pitchFamily="18" charset="0"/>
              </a:rPr>
              <a:t>x</a:t>
            </a:r>
            <a:r>
              <a:rPr lang="en-US" altLang="zh-TW" sz="2200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TW" sz="2200" dirty="0">
                <a:latin typeface="Times New Roman" panose="02020603050405020304" pitchFamily="18" charset="0"/>
              </a:rPr>
              <a:t>) + 0.2</a:t>
            </a:r>
            <a:r>
              <a:rPr lang="en-US" altLang="zh-TW" sz="2200" i="1" dirty="0">
                <a:latin typeface="Times New Roman" panose="02020603050405020304" pitchFamily="18" charset="0"/>
              </a:rPr>
              <a:t>x</a:t>
            </a:r>
            <a:r>
              <a:rPr lang="en-US" altLang="zh-TW" sz="2200" i="1" baseline="-25000" dirty="0">
                <a:latin typeface="Times New Roman" panose="02020603050405020304" pitchFamily="18" charset="0"/>
              </a:rPr>
              <a:t>n </a:t>
            </a:r>
            <a:r>
              <a:rPr lang="en-US" altLang="zh-TW" sz="2200" i="1" dirty="0">
                <a:latin typeface="Times New Roman" panose="02020603050405020304" pitchFamily="18" charset="0"/>
              </a:rPr>
              <a:t>y</a:t>
            </a:r>
            <a:r>
              <a:rPr lang="en-US" altLang="zh-TW" sz="2200" dirty="0">
                <a:latin typeface="Times New Roman" panose="02020603050405020304" pitchFamily="18" charset="0"/>
              </a:rPr>
              <a:t>(</a:t>
            </a:r>
            <a:r>
              <a:rPr lang="en-US" altLang="zh-TW" sz="2200" i="1" dirty="0" err="1">
                <a:latin typeface="Times New Roman" panose="02020603050405020304" pitchFamily="18" charset="0"/>
              </a:rPr>
              <a:t>x</a:t>
            </a:r>
            <a:r>
              <a:rPr lang="en-US" altLang="zh-TW" sz="2200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TW" sz="2200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TW" sz="2200" dirty="0">
                <a:latin typeface="Times New Roman" panose="02020603050405020304" pitchFamily="18" charset="0"/>
              </a:rPr>
              <a:t>)*(</a:t>
            </a:r>
            <a:r>
              <a:rPr lang="en-US" altLang="zh-TW" sz="2200" i="1" dirty="0">
                <a:latin typeface="Times New Roman" panose="02020603050405020304" pitchFamily="18" charset="0"/>
              </a:rPr>
              <a:t>x</a:t>
            </a:r>
            <a:r>
              <a:rPr lang="en-US" altLang="zh-TW" sz="2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TW" sz="2200" baseline="-25000" dirty="0">
                <a:latin typeface="Times New Roman" panose="02020603050405020304" pitchFamily="18" charset="0"/>
              </a:rPr>
              <a:t>+1</a:t>
            </a:r>
            <a:r>
              <a:rPr lang="en-US" altLang="zh-TW" sz="2200" dirty="0">
                <a:latin typeface="Times New Roman" panose="02020603050405020304" pitchFamily="18" charset="0"/>
              </a:rPr>
              <a:t> –</a:t>
            </a:r>
            <a:r>
              <a:rPr lang="en-US" altLang="zh-TW" sz="2200" i="1" dirty="0" err="1">
                <a:latin typeface="Times New Roman" panose="02020603050405020304" pitchFamily="18" charset="0"/>
              </a:rPr>
              <a:t>x</a:t>
            </a:r>
            <a:r>
              <a:rPr lang="en-US" altLang="zh-TW" sz="2200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TW" sz="2200" dirty="0">
                <a:latin typeface="Times New Roman" panose="02020603050405020304" pitchFamily="18" charset="0"/>
              </a:rPr>
              <a:t>).</a:t>
            </a:r>
          </a:p>
          <a:p>
            <a:pPr eaLnBrk="1" hangingPunct="1"/>
            <a:endParaRPr lang="en-US" altLang="zh-TW" sz="2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TW" sz="2200" i="1" dirty="0" err="1">
                <a:latin typeface="Times New Roman" panose="02020603050405020304" pitchFamily="18" charset="0"/>
              </a:rPr>
              <a:t>dy</a:t>
            </a:r>
            <a:r>
              <a:rPr lang="en-US" altLang="zh-TW" sz="2200" dirty="0">
                <a:latin typeface="Times New Roman" panose="02020603050405020304" pitchFamily="18" charset="0"/>
              </a:rPr>
              <a:t>/</a:t>
            </a:r>
            <a:r>
              <a:rPr lang="en-US" altLang="zh-TW" sz="2200" i="1" dirty="0">
                <a:latin typeface="Times New Roman" panose="02020603050405020304" pitchFamily="18" charset="0"/>
              </a:rPr>
              <a:t>dx</a:t>
            </a:r>
            <a:r>
              <a:rPr lang="en-US" altLang="zh-TW" sz="2200" dirty="0">
                <a:latin typeface="Times New Roman" panose="02020603050405020304" pitchFamily="18" charset="0"/>
              </a:rPr>
              <a:t> = sin(</a:t>
            </a:r>
            <a:r>
              <a:rPr lang="en-US" altLang="zh-TW" sz="2200" i="1" dirty="0">
                <a:latin typeface="Times New Roman" panose="02020603050405020304" pitchFamily="18" charset="0"/>
              </a:rPr>
              <a:t>x</a:t>
            </a:r>
            <a:r>
              <a:rPr lang="en-US" altLang="zh-TW" sz="2200" dirty="0">
                <a:latin typeface="Times New Roman" panose="02020603050405020304" pitchFamily="18" charset="0"/>
              </a:rPr>
              <a:t>)                           </a:t>
            </a:r>
            <a:r>
              <a:rPr lang="en-US" altLang="zh-TW" sz="2200" i="1" dirty="0">
                <a:latin typeface="Times New Roman" panose="02020603050405020304" pitchFamily="18" charset="0"/>
              </a:rPr>
              <a:t>y</a:t>
            </a:r>
            <a:r>
              <a:rPr lang="en-US" altLang="zh-TW" sz="2200" dirty="0">
                <a:latin typeface="Times New Roman" panose="02020603050405020304" pitchFamily="18" charset="0"/>
              </a:rPr>
              <a:t>(</a:t>
            </a:r>
            <a:r>
              <a:rPr lang="en-US" altLang="zh-TW" sz="2200" i="1" dirty="0">
                <a:latin typeface="Times New Roman" panose="02020603050405020304" pitchFamily="18" charset="0"/>
              </a:rPr>
              <a:t>x</a:t>
            </a:r>
            <a:r>
              <a:rPr lang="en-US" altLang="zh-TW" sz="2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TW" sz="2200" baseline="-25000" dirty="0">
                <a:latin typeface="Times New Roman" panose="02020603050405020304" pitchFamily="18" charset="0"/>
              </a:rPr>
              <a:t>+1</a:t>
            </a:r>
            <a:r>
              <a:rPr lang="en-US" altLang="zh-TW" sz="2200" dirty="0">
                <a:latin typeface="Times New Roman" panose="02020603050405020304" pitchFamily="18" charset="0"/>
              </a:rPr>
              <a:t>) =  </a:t>
            </a:r>
            <a:r>
              <a:rPr lang="en-US" altLang="zh-TW" sz="2200" i="1" dirty="0">
                <a:latin typeface="Times New Roman" panose="02020603050405020304" pitchFamily="18" charset="0"/>
              </a:rPr>
              <a:t>y</a:t>
            </a:r>
            <a:r>
              <a:rPr lang="en-US" altLang="zh-TW" sz="2200" dirty="0">
                <a:latin typeface="Times New Roman" panose="02020603050405020304" pitchFamily="18" charset="0"/>
              </a:rPr>
              <a:t>(</a:t>
            </a:r>
            <a:r>
              <a:rPr lang="en-US" altLang="zh-TW" sz="2200" i="1" dirty="0" err="1">
                <a:latin typeface="Times New Roman" panose="02020603050405020304" pitchFamily="18" charset="0"/>
              </a:rPr>
              <a:t>x</a:t>
            </a:r>
            <a:r>
              <a:rPr lang="en-US" altLang="zh-TW" sz="2200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TW" sz="2200" dirty="0">
                <a:latin typeface="Times New Roman" panose="02020603050405020304" pitchFamily="18" charset="0"/>
              </a:rPr>
              <a:t>) + sin(</a:t>
            </a:r>
            <a:r>
              <a:rPr lang="en-US" altLang="zh-TW" sz="2200" i="1" dirty="0" err="1">
                <a:latin typeface="Times New Roman" panose="02020603050405020304" pitchFamily="18" charset="0"/>
              </a:rPr>
              <a:t>x</a:t>
            </a:r>
            <a:r>
              <a:rPr lang="en-US" altLang="zh-TW" sz="2200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TW" sz="2200" dirty="0">
                <a:latin typeface="Times New Roman" panose="02020603050405020304" pitchFamily="18" charset="0"/>
              </a:rPr>
              <a:t>)*(</a:t>
            </a:r>
            <a:r>
              <a:rPr lang="en-US" altLang="zh-TW" sz="2200" i="1" dirty="0">
                <a:latin typeface="Times New Roman" panose="02020603050405020304" pitchFamily="18" charset="0"/>
              </a:rPr>
              <a:t>x</a:t>
            </a:r>
            <a:r>
              <a:rPr lang="en-US" altLang="zh-TW" sz="2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TW" sz="2200" baseline="-25000" dirty="0">
                <a:latin typeface="Times New Roman" panose="02020603050405020304" pitchFamily="18" charset="0"/>
              </a:rPr>
              <a:t>+1</a:t>
            </a:r>
            <a:r>
              <a:rPr lang="en-US" altLang="zh-TW" sz="2200" dirty="0">
                <a:latin typeface="Times New Roman" panose="02020603050405020304" pitchFamily="18" charset="0"/>
              </a:rPr>
              <a:t> –</a:t>
            </a:r>
            <a:r>
              <a:rPr lang="en-US" altLang="zh-TW" sz="2200" i="1" dirty="0" err="1">
                <a:latin typeface="Times New Roman" panose="02020603050405020304" pitchFamily="18" charset="0"/>
              </a:rPr>
              <a:t>x</a:t>
            </a:r>
            <a:r>
              <a:rPr lang="en-US" altLang="zh-TW" sz="2200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TW" sz="2200" dirty="0">
                <a:latin typeface="Times New Roman" panose="02020603050405020304" pitchFamily="18" charset="0"/>
              </a:rPr>
              <a:t>). </a:t>
            </a:r>
          </a:p>
        </p:txBody>
      </p:sp>
      <p:sp>
        <p:nvSpPr>
          <p:cNvPr id="31748" name="Line 8"/>
          <p:cNvSpPr>
            <a:spLocks noChangeShapeType="1"/>
          </p:cNvSpPr>
          <p:nvPr/>
        </p:nvSpPr>
        <p:spPr bwMode="auto">
          <a:xfrm>
            <a:off x="2869133" y="2348831"/>
            <a:ext cx="1150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49" name="Line 9"/>
          <p:cNvSpPr>
            <a:spLocks noChangeShapeType="1"/>
          </p:cNvSpPr>
          <p:nvPr/>
        </p:nvSpPr>
        <p:spPr bwMode="auto">
          <a:xfrm>
            <a:off x="2437333" y="3204493"/>
            <a:ext cx="172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1750" name="Text Box 10"/>
          <p:cNvSpPr txBox="1">
            <a:spLocks noChangeArrowheads="1"/>
          </p:cNvSpPr>
          <p:nvPr/>
        </p:nvSpPr>
        <p:spPr bwMode="auto">
          <a:xfrm>
            <a:off x="564083" y="4006181"/>
            <a:ext cx="8281987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後頁為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dy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/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dx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= sin(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),  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(0) = –1,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(a)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i="1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en-US" altLang="zh-TW" sz="2200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+1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–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i="1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= 0.01,           (b)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i="1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en-US" altLang="zh-TW" sz="2200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+1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–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i="1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= 0.1,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(c)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i="1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en-US" altLang="zh-TW" sz="2200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+1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–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i="1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= 1,                (d)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i="1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en-US" altLang="zh-TW" sz="2200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+1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–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 i="1" baseline="-25000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= 0.1,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dy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/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dx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= 10sin(10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) </a:t>
            </a: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的例子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TW" sz="220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1751" name="Rectangle 11"/>
          <p:cNvSpPr>
            <a:spLocks noChangeArrowheads="1"/>
          </p:cNvSpPr>
          <p:nvPr/>
        </p:nvSpPr>
        <p:spPr bwMode="auto">
          <a:xfrm>
            <a:off x="492645" y="5373018"/>
            <a:ext cx="7705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Constraint for obtaining accurate results: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     (1) small sampling interval    (2) small variation of 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f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n-US" altLang="zh-TW" sz="2200" i="1"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) </a:t>
            </a:r>
          </a:p>
        </p:txBody>
      </p:sp>
      <p:graphicFrame>
        <p:nvGraphicFramePr>
          <p:cNvPr id="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582716"/>
              </p:ext>
            </p:extLst>
          </p:nvPr>
        </p:nvGraphicFramePr>
        <p:xfrm>
          <a:off x="683568" y="362744"/>
          <a:ext cx="15938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6" name="Equation" r:id="rId3" imgW="1841500" imgH="698500" progId="Equation.DSMT4">
                  <p:embed/>
                </p:oleObj>
              </mc:Choice>
              <mc:Fallback>
                <p:oleObj name="Equation" r:id="rId3" imgW="1841500" imgH="698500" progId="Equation.DSMT4">
                  <p:embed/>
                  <p:pic>
                    <p:nvPicPr>
                      <p:cNvPr id="9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62744"/>
                        <a:ext cx="159385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029157"/>
              </p:ext>
            </p:extLst>
          </p:nvPr>
        </p:nvGraphicFramePr>
        <p:xfrm>
          <a:off x="3419872" y="487362"/>
          <a:ext cx="41576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7" name="Equation" r:id="rId5" imgW="4165600" imgH="355600" progId="Equation.DSMT4">
                  <p:embed/>
                </p:oleObj>
              </mc:Choice>
              <mc:Fallback>
                <p:oleObj name="Equation" r:id="rId5" imgW="4165600" imgH="355600" progId="Equation.DSMT4">
                  <p:embed/>
                  <p:pic>
                    <p:nvPicPr>
                      <p:cNvPr id="1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487362"/>
                        <a:ext cx="41576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1A85A8-1AC2-450F-9565-B4CD78DBBE72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971550" y="692150"/>
            <a:ext cx="503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</a:rPr>
              <a:t>(a)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4643438" y="692150"/>
            <a:ext cx="503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</a:rPr>
              <a:t>(b)</a:t>
            </a: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1042988" y="3357563"/>
            <a:ext cx="503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</a:rPr>
              <a:t>(c)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4643438" y="3357563"/>
            <a:ext cx="503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</a:rPr>
              <a:t>(d)</a:t>
            </a:r>
          </a:p>
        </p:txBody>
      </p:sp>
      <p:pic>
        <p:nvPicPr>
          <p:cNvPr id="3277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90525"/>
            <a:ext cx="8374062" cy="627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6" name="Picture 16" descr="\\140.112.59.229\資源平台\資源平台\版權\版權ICON與範例\Creative Commens台灣2.5\icon_by-nc-sa.tiff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5732463"/>
            <a:ext cx="7207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7" name="Picture 16" descr="\\140.112.59.229\資源平台\資源平台\版權\版權ICON與範例\Creative Commens台灣2.5\icon_by-nc-sa.tiff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5732463"/>
            <a:ext cx="719138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8" name="Picture 16" descr="\\140.112.59.229\資源平台\資源平台\版權\版權ICON與範例\Creative Commens台灣2.5\icon_by-nc-sa.tiff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2744788"/>
            <a:ext cx="7207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9" name="Picture 16" descr="\\140.112.59.229\資源平台\資源平台\版權\版權ICON與範例\Creative Commens台灣2.5\icon_by-nc-sa.tiff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2744788"/>
            <a:ext cx="719138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BDE2F8B3-A954-4FD2-892C-22687C23E48A}"/>
              </a:ext>
            </a:extLst>
          </p:cNvPr>
          <p:cNvSpPr txBox="1"/>
          <p:nvPr/>
        </p:nvSpPr>
        <p:spPr>
          <a:xfrm>
            <a:off x="1078954" y="160457"/>
            <a:ext cx="70934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Blue line: analytic solution; </a:t>
            </a:r>
            <a:r>
              <a:rPr lang="en-US" altLang="zh-TW" dirty="0">
                <a:solidFill>
                  <a:srgbClr val="FF00FF"/>
                </a:solidFill>
              </a:rPr>
              <a:t>pink line: numerical solution </a:t>
            </a:r>
            <a:endParaRPr lang="zh-TW" altLang="en-US" dirty="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34921B-3373-449F-AC91-DEF850969E36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5" name="Text Box 2"/>
          <p:cNvSpPr txBox="1">
            <a:spLocks noChangeArrowheads="1"/>
          </p:cNvSpPr>
          <p:nvPr/>
        </p:nvSpPr>
        <p:spPr bwMode="auto">
          <a:xfrm>
            <a:off x="323850" y="549275"/>
            <a:ext cx="7993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TW" altLang="zh-TW" sz="2000">
              <a:latin typeface="Times New Roman" panose="02020603050405020304" pitchFamily="18" charset="0"/>
            </a:endParaRPr>
          </a:p>
        </p:txBody>
      </p:sp>
      <p:sp>
        <p:nvSpPr>
          <p:cNvPr id="33796" name="Text Box 3"/>
          <p:cNvSpPr txBox="1">
            <a:spLocks noChangeArrowheads="1"/>
          </p:cNvSpPr>
          <p:nvPr/>
        </p:nvSpPr>
        <p:spPr bwMode="auto">
          <a:xfrm>
            <a:off x="395288" y="765175"/>
            <a:ext cx="8281987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Advantages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-- </a:t>
            </a:r>
            <a:r>
              <a:rPr lang="en-US" altLang="zh-TW" sz="2200">
                <a:latin typeface="Times New Roman" panose="02020603050405020304" pitchFamily="18" charset="0"/>
                <a:ea typeface="標楷體" panose="03000509000000000000" pitchFamily="65" charset="-120"/>
              </a:rPr>
              <a:t>It can solve some 1st order DEs that cannot be solved by mathematics.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-- can be used for solving a complicated DE (not constrained for the 1</a:t>
            </a:r>
            <a:r>
              <a:rPr lang="en-US" altLang="zh-TW" sz="2200" baseline="30000">
                <a:latin typeface="Times New Roman" panose="02020603050405020304" pitchFamily="18" charset="0"/>
              </a:rPr>
              <a:t>st</a:t>
            </a:r>
            <a:r>
              <a:rPr lang="en-US" altLang="zh-TW" sz="2200">
                <a:latin typeface="Times New Roman" panose="02020603050405020304" pitchFamily="18" charset="0"/>
              </a:rPr>
              <a:t> </a:t>
            </a:r>
            <a:br>
              <a:rPr lang="en-US" altLang="zh-TW" sz="2200">
                <a:latin typeface="Times New Roman" panose="02020603050405020304" pitchFamily="18" charset="0"/>
              </a:rPr>
            </a:br>
            <a:r>
              <a:rPr lang="en-US" altLang="zh-TW" sz="2200">
                <a:latin typeface="Times New Roman" panose="02020603050405020304" pitchFamily="18" charset="0"/>
              </a:rPr>
              <a:t>    order case) </a:t>
            </a:r>
          </a:p>
          <a:p>
            <a:pPr eaLnBrk="1" hangingPunct="1"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-- suitable for computer simulation  </a:t>
            </a:r>
          </a:p>
          <a:p>
            <a:pPr eaLnBrk="1" hangingPunct="1">
              <a:buFontTx/>
              <a:buNone/>
            </a:pPr>
            <a:endParaRPr lang="en-US" altLang="zh-TW" sz="22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Disadvantages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TW" sz="2200">
                <a:latin typeface="Times New Roman" panose="02020603050405020304" pitchFamily="18" charset="0"/>
              </a:rPr>
              <a:t>-- numerical error    (</a:t>
            </a:r>
            <a:r>
              <a:rPr lang="zh-TW" altLang="en-US" sz="22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數值方法</a:t>
            </a:r>
            <a:r>
              <a:rPr lang="zh-TW" altLang="en-US" sz="2200">
                <a:latin typeface="Times New Roman" panose="02020603050405020304" pitchFamily="18" charset="0"/>
                <a:ea typeface="標楷體" panose="03000509000000000000" pitchFamily="65" charset="-120"/>
              </a:rPr>
              <a:t>的課程對此有詳細探討</a:t>
            </a:r>
            <a:r>
              <a:rPr lang="en-US" altLang="zh-TW" sz="220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8919C9-9BB7-44D8-AF88-081E2119F5BF}" type="slidenum">
              <a:rPr lang="en-US" altLang="zh-TW" sz="2200" smtClean="0">
                <a:solidFill>
                  <a:srgbClr val="0000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TW" sz="22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611188" y="260350"/>
            <a:ext cx="7489825" cy="461963"/>
          </a:xfrm>
          <a:prstGeom prst="rect">
            <a:avLst/>
          </a:prstGeom>
          <a:noFill/>
          <a:ln w="952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TW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附錄一   </a:t>
            </a:r>
            <a:r>
              <a:rPr lang="en-US" altLang="zh-TW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Table of Integration </a:t>
            </a:r>
          </a:p>
        </p:txBody>
      </p:sp>
      <p:sp>
        <p:nvSpPr>
          <p:cNvPr id="7172" name="Rectangle 38"/>
          <p:cNvSpPr>
            <a:spLocks noChangeArrowheads="1"/>
          </p:cNvSpPr>
          <p:nvPr/>
        </p:nvSpPr>
        <p:spPr bwMode="auto">
          <a:xfrm>
            <a:off x="0" y="2997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220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aphicFrame>
        <p:nvGraphicFramePr>
          <p:cNvPr id="12" name="Group 3"/>
          <p:cNvGraphicFramePr>
            <a:graphicFrameLocks noGrp="1"/>
          </p:cNvGraphicFramePr>
          <p:nvPr/>
        </p:nvGraphicFramePr>
        <p:xfrm>
          <a:off x="900113" y="836613"/>
          <a:ext cx="7129462" cy="5597526"/>
        </p:xfrm>
        <a:graphic>
          <a:graphicData uri="http://schemas.openxmlformats.org/drawingml/2006/table">
            <a:tbl>
              <a:tblPr/>
              <a:tblGrid>
                <a:gridCol w="213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9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1/</a:t>
                      </a:r>
                      <a:r>
                        <a:rPr kumimoji="1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 ln|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| + 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c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cos(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)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 sin(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) + 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c</a:t>
                      </a:r>
                      <a:endParaRPr kumimoji="1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sin(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)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–cos(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) + 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c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8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tan(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)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–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ln|cos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(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)| + </a:t>
                      </a:r>
                      <a:r>
                        <a:rPr kumimoji="1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c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cot(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)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ln|sin(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)| + 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c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a</a:t>
                      </a:r>
                      <a:r>
                        <a:rPr kumimoji="1" lang="en-US" altLang="zh-TW" sz="20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a</a:t>
                      </a:r>
                      <a:r>
                        <a:rPr kumimoji="1" lang="en-US" altLang="zh-TW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/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ln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(</a:t>
                      </a:r>
                      <a:r>
                        <a:rPr kumimoji="1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a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) + </a:t>
                      </a:r>
                      <a:r>
                        <a:rPr kumimoji="1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c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0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1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L="90000" marR="90000" marT="46796" marB="4679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0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L="90000" marR="90000" marT="46796" marB="4679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00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 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e</a:t>
                      </a:r>
                      <a:r>
                        <a:rPr kumimoji="1" lang="en-US" altLang="zh-TW" sz="20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ax</a:t>
                      </a:r>
                      <a:endParaRPr kumimoji="1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L="90000" marR="90000" marT="46796" marB="4679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49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x</a:t>
                      </a:r>
                      <a:r>
                        <a:rPr kumimoji="1" lang="en-US" altLang="zh-TW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 </a:t>
                      </a:r>
                      <a:r>
                        <a:rPr kumimoji="1" lang="en-US" altLang="zh-TW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e</a:t>
                      </a:r>
                      <a:r>
                        <a:rPr kumimoji="1" lang="en-US" altLang="zh-TW" sz="20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charset="-120"/>
                        </a:rPr>
                        <a:t>ax</a:t>
                      </a:r>
                      <a:endParaRPr kumimoji="1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L="90000" marR="90000" marT="46796" marB="4679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charset="-12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7211" name="Object 39"/>
          <p:cNvGraphicFramePr>
            <a:graphicFrameLocks noChangeAspect="1"/>
          </p:cNvGraphicFramePr>
          <p:nvPr/>
        </p:nvGraphicFramePr>
        <p:xfrm>
          <a:off x="3132138" y="3500438"/>
          <a:ext cx="1143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66" name="Equation" r:id="rId3" imgW="1143000" imgH="558800" progId="Equation.DSMT4">
                  <p:embed/>
                </p:oleObj>
              </mc:Choice>
              <mc:Fallback>
                <p:oleObj name="Equation" r:id="rId3" imgW="1143000" imgH="558800" progId="Equation.DSMT4">
                  <p:embed/>
                  <p:pic>
                    <p:nvPicPr>
                      <p:cNvPr id="721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500438"/>
                        <a:ext cx="11430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2" name="Object 40"/>
          <p:cNvGraphicFramePr>
            <a:graphicFrameLocks noChangeAspect="1"/>
          </p:cNvGraphicFramePr>
          <p:nvPr/>
        </p:nvGraphicFramePr>
        <p:xfrm>
          <a:off x="971550" y="3429000"/>
          <a:ext cx="711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67" name="Equation" r:id="rId5" imgW="710891" imgH="558558" progId="Equation.DSMT4">
                  <p:embed/>
                </p:oleObj>
              </mc:Choice>
              <mc:Fallback>
                <p:oleObj name="Equation" r:id="rId5" imgW="710891" imgH="558558" progId="Equation.DSMT4">
                  <p:embed/>
                  <p:pic>
                    <p:nvPicPr>
                      <p:cNvPr id="7212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429000"/>
                        <a:ext cx="711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3" name="Object 41"/>
          <p:cNvGraphicFramePr>
            <a:graphicFrameLocks noChangeAspect="1"/>
          </p:cNvGraphicFramePr>
          <p:nvPr/>
        </p:nvGraphicFramePr>
        <p:xfrm>
          <a:off x="3132138" y="5734050"/>
          <a:ext cx="2019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68" name="Equation" r:id="rId7" imgW="2019300" imgH="622300" progId="Equation.DSMT4">
                  <p:embed/>
                </p:oleObj>
              </mc:Choice>
              <mc:Fallback>
                <p:oleObj name="Equation" r:id="rId7" imgW="2019300" imgH="622300" progId="Equation.DSMT4">
                  <p:embed/>
                  <p:pic>
                    <p:nvPicPr>
                      <p:cNvPr id="7213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734050"/>
                        <a:ext cx="20193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4" name="Object 42"/>
          <p:cNvGraphicFramePr>
            <a:graphicFrameLocks noChangeAspect="1"/>
          </p:cNvGraphicFramePr>
          <p:nvPr/>
        </p:nvGraphicFramePr>
        <p:xfrm>
          <a:off x="1042988" y="4221163"/>
          <a:ext cx="1066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69" name="Equation" r:id="rId9" imgW="1066800" imgH="330200" progId="Equation.DSMT4">
                  <p:embed/>
                </p:oleObj>
              </mc:Choice>
              <mc:Fallback>
                <p:oleObj name="Equation" r:id="rId9" imgW="1066800" imgH="330200" progId="Equation.DSMT4">
                  <p:embed/>
                  <p:pic>
                    <p:nvPicPr>
                      <p:cNvPr id="721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221163"/>
                        <a:ext cx="1066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5" name="Object 43"/>
          <p:cNvGraphicFramePr>
            <a:graphicFrameLocks noChangeAspect="1"/>
          </p:cNvGraphicFramePr>
          <p:nvPr/>
        </p:nvGraphicFramePr>
        <p:xfrm>
          <a:off x="3132138" y="4149725"/>
          <a:ext cx="1333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70" name="Equation" r:id="rId11" imgW="1332921" imgH="317362" progId="Equation.DSMT4">
                  <p:embed/>
                </p:oleObj>
              </mc:Choice>
              <mc:Fallback>
                <p:oleObj name="Equation" r:id="rId11" imgW="1332921" imgH="317362" progId="Equation.DSMT4">
                  <p:embed/>
                  <p:pic>
                    <p:nvPicPr>
                      <p:cNvPr id="7215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149725"/>
                        <a:ext cx="1333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6" name="Object 44"/>
          <p:cNvGraphicFramePr>
            <a:graphicFrameLocks noChangeAspect="1"/>
          </p:cNvGraphicFramePr>
          <p:nvPr/>
        </p:nvGraphicFramePr>
        <p:xfrm>
          <a:off x="3203575" y="5084763"/>
          <a:ext cx="1358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71" name="Equation" r:id="rId13" imgW="1358310" imgH="622030" progId="Equation.DSMT4">
                  <p:embed/>
                </p:oleObj>
              </mc:Choice>
              <mc:Fallback>
                <p:oleObj name="Equation" r:id="rId13" imgW="1358310" imgH="622030" progId="Equation.DSMT4">
                  <p:embed/>
                  <p:pic>
                    <p:nvPicPr>
                      <p:cNvPr id="721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084763"/>
                        <a:ext cx="13589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7" name="Object 52"/>
          <p:cNvGraphicFramePr>
            <a:graphicFrameLocks noChangeAspect="1"/>
          </p:cNvGraphicFramePr>
          <p:nvPr/>
        </p:nvGraphicFramePr>
        <p:xfrm>
          <a:off x="968375" y="4724400"/>
          <a:ext cx="1219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72" name="Equation" r:id="rId15" imgW="1219200" imgH="330200" progId="Equation.DSMT4">
                  <p:embed/>
                </p:oleObj>
              </mc:Choice>
              <mc:Fallback>
                <p:oleObj name="Equation" r:id="rId15" imgW="1219200" imgH="330200" progId="Equation.DSMT4">
                  <p:embed/>
                  <p:pic>
                    <p:nvPicPr>
                      <p:cNvPr id="7217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4724400"/>
                        <a:ext cx="1219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8" name="Object 53"/>
          <p:cNvGraphicFramePr>
            <a:graphicFrameLocks noChangeAspect="1"/>
          </p:cNvGraphicFramePr>
          <p:nvPr/>
        </p:nvGraphicFramePr>
        <p:xfrm>
          <a:off x="3113088" y="4652963"/>
          <a:ext cx="1371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73" name="Equation" r:id="rId17" imgW="1371600" imgH="317500" progId="Equation.DSMT4">
                  <p:embed/>
                </p:oleObj>
              </mc:Choice>
              <mc:Fallback>
                <p:oleObj name="Equation" r:id="rId17" imgW="1371600" imgH="317500" progId="Equation.DSMT4">
                  <p:embed/>
                  <p:pic>
                    <p:nvPicPr>
                      <p:cNvPr id="7218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088" y="4652963"/>
                        <a:ext cx="1371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24794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A782A9-0C61-434C-80B6-C020E295D64D}" type="slidenum">
              <a:rPr lang="en-US" altLang="zh-TW" sz="2000" smtClean="0">
                <a:solidFill>
                  <a:srgbClr val="3333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TW" sz="20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468313" y="692150"/>
            <a:ext cx="7561262" cy="351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TW" sz="2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Exercises for Practicing</a:t>
            </a: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(not homework, but are encouraged to practice)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1-1:    1, 13, 19, 23, 37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1-2:    3, 13, 21, 33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1-3:    2, 7, 28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2-1:    1, 13, 25, 33 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2-6:    1, 3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TW" sz="22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2830</TotalTime>
  <Words>2150</Words>
  <Application>Microsoft Office PowerPoint</Application>
  <PresentationFormat>如螢幕大小 (4:3)</PresentationFormat>
  <Paragraphs>359</Paragraphs>
  <Slides>33</Slides>
  <Notes>7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41" baseType="lpstr">
      <vt:lpstr>新細明體</vt:lpstr>
      <vt:lpstr>標楷體</vt:lpstr>
      <vt:lpstr>Arial</vt:lpstr>
      <vt:lpstr>Cambria Math</vt:lpstr>
      <vt:lpstr>Symbol</vt:lpstr>
      <vt:lpstr>Times New Roman</vt:lpstr>
      <vt:lpstr>預設簡報設計</vt:lpstr>
      <vt:lpstr>Equation</vt:lpstr>
      <vt:lpstr>工程數學--微分方程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Chapter 1  Introduction to Differential Equations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1.2  Initial Value Problem  (IVP) </vt:lpstr>
      <vt:lpstr>PowerPoint 簡報</vt:lpstr>
      <vt:lpstr>1.3  Differential Equations as Mathematical Model   </vt:lpstr>
      <vt:lpstr>PowerPoint 簡報</vt:lpstr>
      <vt:lpstr>PowerPoint 簡報</vt:lpstr>
      <vt:lpstr>PowerPoint 簡報</vt:lpstr>
      <vt:lpstr>PowerPoint 簡報</vt:lpstr>
      <vt:lpstr>Chapter 2  First Order Differential Equation</vt:lpstr>
      <vt:lpstr>PowerPoint 簡報</vt:lpstr>
      <vt:lpstr>PowerPoint 簡報</vt:lpstr>
      <vt:lpstr>PowerPoint 簡報</vt:lpstr>
      <vt:lpstr>Section 2-6  A Numerical Method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微分方程</dc:title>
  <dc:creator>DJJ</dc:creator>
  <cp:lastModifiedBy>user</cp:lastModifiedBy>
  <cp:revision>388</cp:revision>
  <cp:lastPrinted>2024-09-02T14:23:02Z</cp:lastPrinted>
  <dcterms:created xsi:type="dcterms:W3CDTF">2007-09-18T14:08:50Z</dcterms:created>
  <dcterms:modified xsi:type="dcterms:W3CDTF">2025-09-02T12:54:13Z</dcterms:modified>
</cp:coreProperties>
</file>